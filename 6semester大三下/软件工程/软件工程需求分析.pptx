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5" r:id="rId2"/>
    <p:sldId id="272" r:id="rId3"/>
    <p:sldId id="273" r:id="rId4"/>
    <p:sldId id="256" r:id="rId5"/>
    <p:sldId id="261" r:id="rId6"/>
    <p:sldId id="263" r:id="rId7"/>
    <p:sldId id="258" r:id="rId8"/>
    <p:sldId id="259" r:id="rId9"/>
    <p:sldId id="264" r:id="rId10"/>
    <p:sldId id="265" r:id="rId11"/>
    <p:sldId id="267" r:id="rId12"/>
    <p:sldId id="268" r:id="rId13"/>
    <p:sldId id="270" r:id="rId14"/>
    <p:sldId id="271" r:id="rId15"/>
    <p:sldId id="276" r:id="rId16"/>
    <p:sldId id="277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652637B-DA3B-4D08-AE4E-A85B3D1988AA}">
          <p14:sldIdLst>
            <p14:sldId id="275"/>
            <p14:sldId id="272"/>
            <p14:sldId id="273"/>
            <p14:sldId id="256"/>
          </p14:sldIdLst>
        </p14:section>
        <p14:section name="材料自动审查系统" id="{3369DC8C-A019-40FC-A446-5F0D4DD86B91}">
          <p14:sldIdLst>
            <p14:sldId id="261"/>
            <p14:sldId id="263"/>
          </p14:sldIdLst>
        </p14:section>
        <p14:section name="文件预处理" id="{C404C7AA-A7A0-4E85-B244-4797BEC8C153}">
          <p14:sldIdLst>
            <p14:sldId id="258"/>
            <p14:sldId id="259"/>
          </p14:sldIdLst>
        </p14:section>
        <p14:section name="自动审查" id="{ADA066D4-C28E-4206-9384-2D0E09290464}">
          <p14:sldIdLst>
            <p14:sldId id="264"/>
            <p14:sldId id="265"/>
          </p14:sldIdLst>
        </p14:section>
        <p14:section name="存储管理" id="{590C30FC-6295-4176-9A36-0F89F21C2903}">
          <p14:sldIdLst>
            <p14:sldId id="267"/>
            <p14:sldId id="268"/>
          </p14:sldIdLst>
        </p14:section>
        <p14:section name="查询服务节" id="{9B140EA2-3257-4F91-AA44-48FFB537FEA3}">
          <p14:sldIdLst>
            <p14:sldId id="270"/>
            <p14:sldId id="271"/>
          </p14:sldIdLst>
        </p14:section>
        <p14:section name="数据库" id="{F092659B-C481-47A2-B06D-08BB28B7C8D6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1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FF692A-9451-4423-B099-A0A950EE9D58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C0D33F-4140-4B74-AD40-FED020FE7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041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10A69D-9A1A-40D7-9DAF-E300603A4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2015D8-115B-414F-B9FF-8D92425EE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741E9-4A0E-4EF1-96F4-29D0D3A1D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87C-DA42-479A-8CD1-872E788A357E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1BD774-57F1-477B-A83A-EEC4470C2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0484E2-A488-445C-9118-7EC6FB957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7102-B36B-4CB7-9D1D-58BDB093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492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022FE7-7919-42BF-80CE-CE54C97C5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D82197-F88A-4B7C-B7C4-88E0C07B3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8F2EDB-370E-4DA3-8B0D-A2765105F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87C-DA42-479A-8CD1-872E788A357E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62DD80-4F06-49F1-B6EA-848BD751B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BE5229-275A-4036-BBC1-1CF30D41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7102-B36B-4CB7-9D1D-58BDB093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11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3ADF91-52BC-46C4-8F03-B3C426106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EAA8F3-A5B5-405F-988B-6004E43B8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992D35-CB95-4BCF-9834-17EB3088B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87C-DA42-479A-8CD1-872E788A357E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E9EE5B-C9D7-49DE-BDEB-31DD1F3ED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5CD8E1-80BA-4406-899A-E8FEE09B0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7102-B36B-4CB7-9D1D-58BDB093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914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051E5D-7219-4036-AFDF-A0BEEB7CB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166B4D-0DEA-42AF-AAB8-A5159C80E4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9B92E5-BA42-439E-842F-EF21BB1CA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54AADE-BB6B-4141-AE36-37716E008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87C-DA42-479A-8CD1-872E788A357E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10AD1F-5F60-49C5-9E2C-120D1623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77868A-412C-47F3-99D0-647A96B6C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7102-B36B-4CB7-9D1D-58BDB093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072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3C7468-752B-4928-A04A-AAEC02AD5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3481A0-8E4F-426E-94DE-AAA7E6037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E98866-ED79-4B53-B939-EB9BF51D7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0DDD0FD-FAD7-4713-A048-289C69DA4C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2D525C-AF4E-4ADD-BB26-CF8FEFEE4D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EE3D51-F89E-422E-8307-3F40A340F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87C-DA42-479A-8CD1-872E788A357E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47D4FB6-1CA3-4679-9DD9-0C9294F68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C8A1041-121A-497A-B5BE-D686B2FD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7102-B36B-4CB7-9D1D-58BDB093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446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3E901-7829-4571-8D95-BB7EB18B5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1833B6-4CEC-45B2-8E2E-C26CB79F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87C-DA42-479A-8CD1-872E788A357E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BD16EA-D5F3-4515-8F32-B7610799A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76D13B-5F41-4EFF-B8C8-C53A335A7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7102-B36B-4CB7-9D1D-58BDB093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259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018734-3601-42C2-901E-C7C68E491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87C-DA42-479A-8CD1-872E788A357E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8EF852-45F2-4243-91DD-809F51A3C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1312DD-BF08-4690-B50E-344A082FB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7102-B36B-4CB7-9D1D-58BDB093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620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FC7C6-F53D-4726-AE77-E4C5397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2474C8-4EEA-4018-B661-E0BFEBFB8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E0E56E-B508-4FCF-8E67-104A29217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8B94F-C1BC-42AD-9479-3FE650E7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87C-DA42-479A-8CD1-872E788A357E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4E4F4F-52C1-4A55-8A9C-294AB5F9D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6B741C-01F6-4EA9-8A1F-5E08BC928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7102-B36B-4CB7-9D1D-58BDB093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953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59B3E3-EF46-45CD-9579-142F4B77A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EB84041-4A54-4E39-B8A4-9D1180973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B96F29-48BA-4DA1-A281-15A351008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F5CBA2-836F-42ED-B3D3-17ABB4793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87C-DA42-479A-8CD1-872E788A357E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D6E18D-37E5-4BA6-B50B-5149DE451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E02F4A-4BCC-4642-8BD2-1042A6C7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7102-B36B-4CB7-9D1D-58BDB093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068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2046AA-6C9C-424A-A6F4-2B9CA215F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1F5344-1F43-4179-AD2B-B3EA9A1DA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6EFACF-999F-426E-BE46-CCC23CAC9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87C-DA42-479A-8CD1-872E788A357E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74396B-72D8-4C1A-ADA7-B71850D8A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31D6F5-B988-4D90-A75D-FC94BA3E9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7102-B36B-4CB7-9D1D-58BDB093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903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AE4AD7-0C0E-4A14-B2B0-D4D48B1931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228308-AB54-44E8-8604-1009470C2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B2BF54-5D86-44D2-B38C-4EC8FF804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87C-DA42-479A-8CD1-872E788A357E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F04352-F41F-42E9-8086-8401652C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FC99B5-9260-4913-860B-73E3C1766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7102-B36B-4CB7-9D1D-58BDB093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817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A6DD3E3-0ECB-4805-9EBC-76C4C46F4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6042E1-5AF5-4D02-A4CD-03610C9CD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F7678F-BD6E-421B-B976-C2183BDC6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4687C-DA42-479A-8CD1-872E788A357E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F367B5-A4BD-4330-8A39-8DBE1CE43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04B7D3-B78F-4F21-9B55-83B9B1B96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D7102-B36B-4CB7-9D1D-58BDB093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984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" Target="slide7.xml"/><Relationship Id="rId7" Type="http://schemas.openxmlformats.org/officeDocument/2006/relationships/slide" Target="slide1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slide" Target="slide9.xml"/><Relationship Id="rId4" Type="http://schemas.openxmlformats.org/officeDocument/2006/relationships/image" Target="../media/image13.png"/><Relationship Id="rId9" Type="http://schemas.openxmlformats.org/officeDocument/2006/relationships/slide" Target="slide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81631" y="2323600"/>
            <a:ext cx="2244105" cy="420538"/>
            <a:chOff x="0" y="0"/>
            <a:chExt cx="916223" cy="1716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6223" cy="171697"/>
            </a:xfrm>
            <a:custGeom>
              <a:avLst/>
              <a:gdLst/>
              <a:ahLst/>
              <a:cxnLst/>
              <a:rect l="l" t="t" r="r" b="b"/>
              <a:pathLst>
                <a:path w="916223" h="171697">
                  <a:moveTo>
                    <a:pt x="85849" y="0"/>
                  </a:moveTo>
                  <a:lnTo>
                    <a:pt x="830375" y="0"/>
                  </a:lnTo>
                  <a:cubicBezTo>
                    <a:pt x="853143" y="0"/>
                    <a:pt x="874979" y="9045"/>
                    <a:pt x="891079" y="25144"/>
                  </a:cubicBezTo>
                  <a:cubicBezTo>
                    <a:pt x="907178" y="41244"/>
                    <a:pt x="916223" y="63080"/>
                    <a:pt x="916223" y="85849"/>
                  </a:cubicBezTo>
                  <a:lnTo>
                    <a:pt x="916223" y="85849"/>
                  </a:lnTo>
                  <a:cubicBezTo>
                    <a:pt x="916223" y="133261"/>
                    <a:pt x="877787" y="171697"/>
                    <a:pt x="830375" y="171697"/>
                  </a:cubicBezTo>
                  <a:lnTo>
                    <a:pt x="85849" y="171697"/>
                  </a:lnTo>
                  <a:cubicBezTo>
                    <a:pt x="38436" y="171697"/>
                    <a:pt x="0" y="133261"/>
                    <a:pt x="0" y="85849"/>
                  </a:cubicBezTo>
                  <a:lnTo>
                    <a:pt x="0" y="85849"/>
                  </a:lnTo>
                  <a:cubicBezTo>
                    <a:pt x="0" y="38436"/>
                    <a:pt x="38436" y="0"/>
                    <a:pt x="85849" y="0"/>
                  </a:cubicBezTo>
                  <a:close/>
                </a:path>
              </a:pathLst>
            </a:custGeom>
            <a:solidFill>
              <a:srgbClr val="698AC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16223" cy="21932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141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4991658" y="2397967"/>
            <a:ext cx="255157" cy="271805"/>
          </a:xfrm>
          <a:custGeom>
            <a:avLst/>
            <a:gdLst/>
            <a:ahLst/>
            <a:cxnLst/>
            <a:rect l="l" t="t" r="r" b="b"/>
            <a:pathLst>
              <a:path w="382735" h="407707">
                <a:moveTo>
                  <a:pt x="0" y="0"/>
                </a:moveTo>
                <a:lnTo>
                  <a:pt x="382734" y="0"/>
                </a:lnTo>
                <a:lnTo>
                  <a:pt x="382734" y="407707"/>
                </a:lnTo>
                <a:lnTo>
                  <a:pt x="0" y="407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781631" y="4529998"/>
            <a:ext cx="2244105" cy="420538"/>
            <a:chOff x="0" y="0"/>
            <a:chExt cx="916223" cy="1716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6223" cy="171697"/>
            </a:xfrm>
            <a:custGeom>
              <a:avLst/>
              <a:gdLst/>
              <a:ahLst/>
              <a:cxnLst/>
              <a:rect l="l" t="t" r="r" b="b"/>
              <a:pathLst>
                <a:path w="916223" h="171697">
                  <a:moveTo>
                    <a:pt x="85849" y="0"/>
                  </a:moveTo>
                  <a:lnTo>
                    <a:pt x="830375" y="0"/>
                  </a:lnTo>
                  <a:cubicBezTo>
                    <a:pt x="853143" y="0"/>
                    <a:pt x="874979" y="9045"/>
                    <a:pt x="891079" y="25144"/>
                  </a:cubicBezTo>
                  <a:cubicBezTo>
                    <a:pt x="907178" y="41244"/>
                    <a:pt x="916223" y="63080"/>
                    <a:pt x="916223" y="85849"/>
                  </a:cubicBezTo>
                  <a:lnTo>
                    <a:pt x="916223" y="85849"/>
                  </a:lnTo>
                  <a:cubicBezTo>
                    <a:pt x="916223" y="133261"/>
                    <a:pt x="877787" y="171697"/>
                    <a:pt x="830375" y="171697"/>
                  </a:cubicBezTo>
                  <a:lnTo>
                    <a:pt x="85849" y="171697"/>
                  </a:lnTo>
                  <a:cubicBezTo>
                    <a:pt x="38436" y="171697"/>
                    <a:pt x="0" y="133261"/>
                    <a:pt x="0" y="85849"/>
                  </a:cubicBezTo>
                  <a:lnTo>
                    <a:pt x="0" y="85849"/>
                  </a:lnTo>
                  <a:cubicBezTo>
                    <a:pt x="0" y="38436"/>
                    <a:pt x="38436" y="0"/>
                    <a:pt x="858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698ACF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6223" cy="21932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141"/>
                </a:lnSpc>
              </a:pPr>
              <a:endParaRPr sz="1200"/>
            </a:p>
          </p:txBody>
        </p:sp>
      </p:grpSp>
      <p:sp>
        <p:nvSpPr>
          <p:cNvPr id="9" name="Freeform 9"/>
          <p:cNvSpPr/>
          <p:nvPr/>
        </p:nvSpPr>
        <p:spPr>
          <a:xfrm>
            <a:off x="4991658" y="4604365"/>
            <a:ext cx="255157" cy="271805"/>
          </a:xfrm>
          <a:custGeom>
            <a:avLst/>
            <a:gdLst/>
            <a:ahLst/>
            <a:cxnLst/>
            <a:rect l="l" t="t" r="r" b="b"/>
            <a:pathLst>
              <a:path w="382735" h="407707">
                <a:moveTo>
                  <a:pt x="0" y="0"/>
                </a:moveTo>
                <a:lnTo>
                  <a:pt x="382735" y="0"/>
                </a:lnTo>
                <a:lnTo>
                  <a:pt x="382735" y="407707"/>
                </a:lnTo>
                <a:lnTo>
                  <a:pt x="0" y="40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-1565475" y="4528488"/>
            <a:ext cx="4876800" cy="2741168"/>
          </a:xfrm>
          <a:custGeom>
            <a:avLst/>
            <a:gdLst/>
            <a:ahLst/>
            <a:cxnLst/>
            <a:rect l="l" t="t" r="r" b="b"/>
            <a:pathLst>
              <a:path w="7315200" h="4111752">
                <a:moveTo>
                  <a:pt x="0" y="0"/>
                </a:moveTo>
                <a:lnTo>
                  <a:pt x="7315200" y="0"/>
                </a:lnTo>
                <a:lnTo>
                  <a:pt x="7315200" y="4111752"/>
                </a:lnTo>
                <a:lnTo>
                  <a:pt x="0" y="41117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0800000">
            <a:off x="9067800" y="-411656"/>
            <a:ext cx="4876800" cy="2741168"/>
          </a:xfrm>
          <a:custGeom>
            <a:avLst/>
            <a:gdLst/>
            <a:ahLst/>
            <a:cxnLst/>
            <a:rect l="l" t="t" r="r" b="b"/>
            <a:pathLst>
              <a:path w="7315200" h="4111752">
                <a:moveTo>
                  <a:pt x="0" y="0"/>
                </a:moveTo>
                <a:lnTo>
                  <a:pt x="7315200" y="0"/>
                </a:lnTo>
                <a:lnTo>
                  <a:pt x="7315200" y="4111752"/>
                </a:lnTo>
                <a:lnTo>
                  <a:pt x="0" y="41117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2559701">
            <a:off x="-1630739" y="-727842"/>
            <a:ext cx="4876800" cy="2097024"/>
          </a:xfrm>
          <a:custGeom>
            <a:avLst/>
            <a:gdLst/>
            <a:ahLst/>
            <a:cxnLst/>
            <a:rect l="l" t="t" r="r" b="b"/>
            <a:pathLst>
              <a:path w="7315200" h="3145536">
                <a:moveTo>
                  <a:pt x="0" y="0"/>
                </a:moveTo>
                <a:lnTo>
                  <a:pt x="7315200" y="0"/>
                </a:lnTo>
                <a:lnTo>
                  <a:pt x="7315200" y="3145536"/>
                </a:lnTo>
                <a:lnTo>
                  <a:pt x="0" y="31455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72925" y="679601"/>
            <a:ext cx="10061516" cy="1136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79"/>
              </a:lnSpc>
            </a:pPr>
            <a:r>
              <a:rPr lang="zh-CN" altLang="en-US" sz="4400" b="1" dirty="0">
                <a:solidFill>
                  <a:srgbClr val="1E1E1E"/>
                </a:solidFill>
                <a:latin typeface="思源黑体 Bold"/>
                <a:ea typeface="思源黑体 Bold"/>
                <a:cs typeface="思源黑体 Bold"/>
                <a:sym typeface="思源黑体 Bold"/>
              </a:rPr>
              <a:t>毕业设计（论文）存档材料自动审查系统</a:t>
            </a:r>
            <a:endParaRPr lang="en-US" sz="4400" b="1" dirty="0">
              <a:solidFill>
                <a:srgbClr val="1E1E1E"/>
              </a:solidFill>
              <a:latin typeface="思源黑体 Bold"/>
              <a:ea typeface="思源黑体 Bold"/>
              <a:cs typeface="思源黑体 Bold"/>
              <a:sym typeface="思源黑体 Bold"/>
            </a:endParaRPr>
          </a:p>
        </p:txBody>
      </p:sp>
      <p:sp>
        <p:nvSpPr>
          <p:cNvPr id="15" name="Freeform 15"/>
          <p:cNvSpPr/>
          <p:nvPr/>
        </p:nvSpPr>
        <p:spPr>
          <a:xfrm rot="-2559701">
            <a:off x="8736389" y="5123688"/>
            <a:ext cx="4876800" cy="2097024"/>
          </a:xfrm>
          <a:custGeom>
            <a:avLst/>
            <a:gdLst/>
            <a:ahLst/>
            <a:cxnLst/>
            <a:rect l="l" t="t" r="r" b="b"/>
            <a:pathLst>
              <a:path w="7315200" h="3145536">
                <a:moveTo>
                  <a:pt x="0" y="0"/>
                </a:moveTo>
                <a:lnTo>
                  <a:pt x="7315200" y="0"/>
                </a:lnTo>
                <a:lnTo>
                  <a:pt x="7315200" y="3145536"/>
                </a:lnTo>
                <a:lnTo>
                  <a:pt x="0" y="31455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5710365" y="2390026"/>
            <a:ext cx="801083" cy="250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71"/>
              </a:lnSpc>
            </a:pPr>
            <a:r>
              <a:rPr lang="zh-CN" altLang="en-US" sz="1479" dirty="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丘绎楦</a:t>
            </a:r>
            <a:endParaRPr lang="en-US" sz="1479" dirty="0">
              <a:solidFill>
                <a:srgbClr val="FFFFFF"/>
              </a:solidFill>
              <a:latin typeface="思源黑体"/>
              <a:ea typeface="思源黑体"/>
              <a:cs typeface="思源黑体"/>
              <a:sym typeface="思源黑体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320598" y="4596424"/>
            <a:ext cx="1606560" cy="250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71"/>
              </a:lnSpc>
            </a:pPr>
            <a:r>
              <a:rPr lang="en-US" sz="1479" dirty="0" err="1">
                <a:solidFill>
                  <a:srgbClr val="1E1E1E"/>
                </a:solidFill>
                <a:latin typeface="思源黑体"/>
                <a:ea typeface="思源黑体"/>
                <a:cs typeface="思源黑体"/>
                <a:sym typeface="思源黑体"/>
              </a:rPr>
              <a:t>老师</a:t>
            </a:r>
            <a:r>
              <a:rPr lang="en-US" sz="1479" dirty="0">
                <a:solidFill>
                  <a:srgbClr val="1E1E1E"/>
                </a:solidFill>
                <a:latin typeface="思源黑体"/>
                <a:ea typeface="思源黑体"/>
                <a:cs typeface="思源黑体"/>
                <a:sym typeface="思源黑体"/>
              </a:rPr>
              <a:t>：</a:t>
            </a:r>
            <a:r>
              <a:rPr lang="zh-CN" altLang="en-US" sz="1479" dirty="0">
                <a:solidFill>
                  <a:srgbClr val="1E1E1E"/>
                </a:solidFill>
                <a:latin typeface="思源黑体"/>
                <a:ea typeface="思源黑体"/>
                <a:cs typeface="思源黑体"/>
                <a:sym typeface="思源黑体"/>
              </a:rPr>
              <a:t>胡思康</a:t>
            </a:r>
            <a:endParaRPr lang="en-US" sz="1479" dirty="0">
              <a:solidFill>
                <a:srgbClr val="1E1E1E"/>
              </a:solidFill>
              <a:latin typeface="思源黑体"/>
              <a:ea typeface="思源黑体"/>
              <a:cs typeface="思源黑体"/>
              <a:sym typeface="思源黑体"/>
            </a:endParaRPr>
          </a:p>
        </p:txBody>
      </p:sp>
      <p:grpSp>
        <p:nvGrpSpPr>
          <p:cNvPr id="18" name="Group 2">
            <a:extLst>
              <a:ext uri="{FF2B5EF4-FFF2-40B4-BE49-F238E27FC236}">
                <a16:creationId xmlns:a16="http://schemas.microsoft.com/office/drawing/2014/main" id="{54849729-732C-434F-9B66-A44E86D6999A}"/>
              </a:ext>
            </a:extLst>
          </p:cNvPr>
          <p:cNvGrpSpPr/>
          <p:nvPr/>
        </p:nvGrpSpPr>
        <p:grpSpPr>
          <a:xfrm>
            <a:off x="4785627" y="2861432"/>
            <a:ext cx="2244105" cy="420538"/>
            <a:chOff x="0" y="0"/>
            <a:chExt cx="916223" cy="171697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59F20B3B-ADE0-47AF-9C51-2B9359B288CE}"/>
                </a:ext>
              </a:extLst>
            </p:cNvPr>
            <p:cNvSpPr/>
            <p:nvPr/>
          </p:nvSpPr>
          <p:spPr>
            <a:xfrm>
              <a:off x="0" y="0"/>
              <a:ext cx="916223" cy="171697"/>
            </a:xfrm>
            <a:custGeom>
              <a:avLst/>
              <a:gdLst/>
              <a:ahLst/>
              <a:cxnLst/>
              <a:rect l="l" t="t" r="r" b="b"/>
              <a:pathLst>
                <a:path w="916223" h="171697">
                  <a:moveTo>
                    <a:pt x="85849" y="0"/>
                  </a:moveTo>
                  <a:lnTo>
                    <a:pt x="830375" y="0"/>
                  </a:lnTo>
                  <a:cubicBezTo>
                    <a:pt x="853143" y="0"/>
                    <a:pt x="874979" y="9045"/>
                    <a:pt x="891079" y="25144"/>
                  </a:cubicBezTo>
                  <a:cubicBezTo>
                    <a:pt x="907178" y="41244"/>
                    <a:pt x="916223" y="63080"/>
                    <a:pt x="916223" y="85849"/>
                  </a:cubicBezTo>
                  <a:lnTo>
                    <a:pt x="916223" y="85849"/>
                  </a:lnTo>
                  <a:cubicBezTo>
                    <a:pt x="916223" y="133261"/>
                    <a:pt x="877787" y="171697"/>
                    <a:pt x="830375" y="171697"/>
                  </a:cubicBezTo>
                  <a:lnTo>
                    <a:pt x="85849" y="171697"/>
                  </a:lnTo>
                  <a:cubicBezTo>
                    <a:pt x="38436" y="171697"/>
                    <a:pt x="0" y="133261"/>
                    <a:pt x="0" y="85849"/>
                  </a:cubicBezTo>
                  <a:lnTo>
                    <a:pt x="0" y="85849"/>
                  </a:lnTo>
                  <a:cubicBezTo>
                    <a:pt x="0" y="38436"/>
                    <a:pt x="38436" y="0"/>
                    <a:pt x="85849" y="0"/>
                  </a:cubicBezTo>
                  <a:close/>
                </a:path>
              </a:pathLst>
            </a:custGeom>
            <a:solidFill>
              <a:srgbClr val="698ACF"/>
            </a:solidFill>
          </p:spPr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6920E236-DF4D-4C37-AF90-A14028E1DA85}"/>
                </a:ext>
              </a:extLst>
            </p:cNvPr>
            <p:cNvSpPr txBox="1"/>
            <p:nvPr/>
          </p:nvSpPr>
          <p:spPr>
            <a:xfrm>
              <a:off x="0" y="-47625"/>
              <a:ext cx="916223" cy="21932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141"/>
                </a:lnSpc>
              </a:pPr>
              <a:endParaRPr sz="1200"/>
            </a:p>
          </p:txBody>
        </p:sp>
      </p:grpSp>
      <p:sp>
        <p:nvSpPr>
          <p:cNvPr id="21" name="Freeform 5">
            <a:extLst>
              <a:ext uri="{FF2B5EF4-FFF2-40B4-BE49-F238E27FC236}">
                <a16:creationId xmlns:a16="http://schemas.microsoft.com/office/drawing/2014/main" id="{D61FDE82-2226-4721-BFAF-4319F008C8EC}"/>
              </a:ext>
            </a:extLst>
          </p:cNvPr>
          <p:cNvSpPr/>
          <p:nvPr/>
        </p:nvSpPr>
        <p:spPr>
          <a:xfrm>
            <a:off x="4995654" y="2935799"/>
            <a:ext cx="255157" cy="271805"/>
          </a:xfrm>
          <a:custGeom>
            <a:avLst/>
            <a:gdLst/>
            <a:ahLst/>
            <a:cxnLst/>
            <a:rect l="l" t="t" r="r" b="b"/>
            <a:pathLst>
              <a:path w="382735" h="407707">
                <a:moveTo>
                  <a:pt x="0" y="0"/>
                </a:moveTo>
                <a:lnTo>
                  <a:pt x="382734" y="0"/>
                </a:lnTo>
                <a:lnTo>
                  <a:pt x="382734" y="407707"/>
                </a:lnTo>
                <a:lnTo>
                  <a:pt x="0" y="407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16">
            <a:extLst>
              <a:ext uri="{FF2B5EF4-FFF2-40B4-BE49-F238E27FC236}">
                <a16:creationId xmlns:a16="http://schemas.microsoft.com/office/drawing/2014/main" id="{BAAE3015-A6AF-4CBE-9BE7-6BFB26D95402}"/>
              </a:ext>
            </a:extLst>
          </p:cNvPr>
          <p:cNvSpPr txBox="1"/>
          <p:nvPr/>
        </p:nvSpPr>
        <p:spPr>
          <a:xfrm>
            <a:off x="5714361" y="2927858"/>
            <a:ext cx="801083" cy="250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71"/>
              </a:lnSpc>
            </a:pPr>
            <a:r>
              <a:rPr lang="zh-CN" altLang="en-US" sz="1479" dirty="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曾泇睷</a:t>
            </a:r>
            <a:endParaRPr lang="en-US" sz="1479" dirty="0">
              <a:solidFill>
                <a:srgbClr val="FFFFFF"/>
              </a:solidFill>
              <a:latin typeface="思源黑体"/>
              <a:ea typeface="思源黑体"/>
              <a:cs typeface="思源黑体"/>
              <a:sym typeface="思源黑体"/>
            </a:endParaRPr>
          </a:p>
        </p:txBody>
      </p:sp>
      <p:grpSp>
        <p:nvGrpSpPr>
          <p:cNvPr id="33" name="Group 2">
            <a:extLst>
              <a:ext uri="{FF2B5EF4-FFF2-40B4-BE49-F238E27FC236}">
                <a16:creationId xmlns:a16="http://schemas.microsoft.com/office/drawing/2014/main" id="{75D16259-E540-43CF-9C82-6D7F59524863}"/>
              </a:ext>
            </a:extLst>
          </p:cNvPr>
          <p:cNvGrpSpPr/>
          <p:nvPr/>
        </p:nvGrpSpPr>
        <p:grpSpPr>
          <a:xfrm>
            <a:off x="4781631" y="3384470"/>
            <a:ext cx="2244105" cy="420538"/>
            <a:chOff x="0" y="0"/>
            <a:chExt cx="916223" cy="171697"/>
          </a:xfrm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A2DE4BC7-F8ED-4CB6-833F-753263B12D17}"/>
                </a:ext>
              </a:extLst>
            </p:cNvPr>
            <p:cNvSpPr/>
            <p:nvPr/>
          </p:nvSpPr>
          <p:spPr>
            <a:xfrm>
              <a:off x="0" y="0"/>
              <a:ext cx="916223" cy="171697"/>
            </a:xfrm>
            <a:custGeom>
              <a:avLst/>
              <a:gdLst/>
              <a:ahLst/>
              <a:cxnLst/>
              <a:rect l="l" t="t" r="r" b="b"/>
              <a:pathLst>
                <a:path w="916223" h="171697">
                  <a:moveTo>
                    <a:pt x="85849" y="0"/>
                  </a:moveTo>
                  <a:lnTo>
                    <a:pt x="830375" y="0"/>
                  </a:lnTo>
                  <a:cubicBezTo>
                    <a:pt x="853143" y="0"/>
                    <a:pt x="874979" y="9045"/>
                    <a:pt x="891079" y="25144"/>
                  </a:cubicBezTo>
                  <a:cubicBezTo>
                    <a:pt x="907178" y="41244"/>
                    <a:pt x="916223" y="63080"/>
                    <a:pt x="916223" y="85849"/>
                  </a:cubicBezTo>
                  <a:lnTo>
                    <a:pt x="916223" y="85849"/>
                  </a:lnTo>
                  <a:cubicBezTo>
                    <a:pt x="916223" y="133261"/>
                    <a:pt x="877787" y="171697"/>
                    <a:pt x="830375" y="171697"/>
                  </a:cubicBezTo>
                  <a:lnTo>
                    <a:pt x="85849" y="171697"/>
                  </a:lnTo>
                  <a:cubicBezTo>
                    <a:pt x="38436" y="171697"/>
                    <a:pt x="0" y="133261"/>
                    <a:pt x="0" y="85849"/>
                  </a:cubicBezTo>
                  <a:lnTo>
                    <a:pt x="0" y="85849"/>
                  </a:lnTo>
                  <a:cubicBezTo>
                    <a:pt x="0" y="38436"/>
                    <a:pt x="38436" y="0"/>
                    <a:pt x="85849" y="0"/>
                  </a:cubicBezTo>
                  <a:close/>
                </a:path>
              </a:pathLst>
            </a:custGeom>
            <a:solidFill>
              <a:srgbClr val="698ACF"/>
            </a:solidFill>
          </p:spPr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DC52C75F-5AD0-4EED-BA41-E440C4F86D17}"/>
                </a:ext>
              </a:extLst>
            </p:cNvPr>
            <p:cNvSpPr txBox="1"/>
            <p:nvPr/>
          </p:nvSpPr>
          <p:spPr>
            <a:xfrm>
              <a:off x="0" y="-47625"/>
              <a:ext cx="916223" cy="21932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141"/>
                </a:lnSpc>
              </a:pPr>
              <a:endParaRPr sz="1200"/>
            </a:p>
          </p:txBody>
        </p:sp>
      </p:grpSp>
      <p:sp>
        <p:nvSpPr>
          <p:cNvPr id="36" name="Freeform 5">
            <a:extLst>
              <a:ext uri="{FF2B5EF4-FFF2-40B4-BE49-F238E27FC236}">
                <a16:creationId xmlns:a16="http://schemas.microsoft.com/office/drawing/2014/main" id="{2CD4D25F-CCD1-49DC-B66D-3E63E5F0FFDF}"/>
              </a:ext>
            </a:extLst>
          </p:cNvPr>
          <p:cNvSpPr/>
          <p:nvPr/>
        </p:nvSpPr>
        <p:spPr>
          <a:xfrm>
            <a:off x="4991658" y="3458837"/>
            <a:ext cx="255157" cy="271805"/>
          </a:xfrm>
          <a:custGeom>
            <a:avLst/>
            <a:gdLst/>
            <a:ahLst/>
            <a:cxnLst/>
            <a:rect l="l" t="t" r="r" b="b"/>
            <a:pathLst>
              <a:path w="382735" h="407707">
                <a:moveTo>
                  <a:pt x="0" y="0"/>
                </a:moveTo>
                <a:lnTo>
                  <a:pt x="382734" y="0"/>
                </a:lnTo>
                <a:lnTo>
                  <a:pt x="382734" y="407707"/>
                </a:lnTo>
                <a:lnTo>
                  <a:pt x="0" y="407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16">
            <a:extLst>
              <a:ext uri="{FF2B5EF4-FFF2-40B4-BE49-F238E27FC236}">
                <a16:creationId xmlns:a16="http://schemas.microsoft.com/office/drawing/2014/main" id="{276DF27A-9D23-4654-9838-668BE64BC269}"/>
              </a:ext>
            </a:extLst>
          </p:cNvPr>
          <p:cNvSpPr txBox="1"/>
          <p:nvPr/>
        </p:nvSpPr>
        <p:spPr>
          <a:xfrm>
            <a:off x="5710365" y="3450896"/>
            <a:ext cx="801083" cy="250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71"/>
              </a:lnSpc>
            </a:pPr>
            <a:r>
              <a:rPr lang="zh-CN" altLang="en-US" sz="1479" dirty="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孙将斌</a:t>
            </a:r>
            <a:endParaRPr lang="en-US" sz="1479" dirty="0">
              <a:solidFill>
                <a:srgbClr val="FFFFFF"/>
              </a:solidFill>
              <a:latin typeface="思源黑体"/>
              <a:ea typeface="思源黑体"/>
              <a:cs typeface="思源黑体"/>
              <a:sym typeface="思源黑体"/>
            </a:endParaRPr>
          </a:p>
        </p:txBody>
      </p:sp>
      <p:grpSp>
        <p:nvGrpSpPr>
          <p:cNvPr id="38" name="Group 2">
            <a:extLst>
              <a:ext uri="{FF2B5EF4-FFF2-40B4-BE49-F238E27FC236}">
                <a16:creationId xmlns:a16="http://schemas.microsoft.com/office/drawing/2014/main" id="{292E6030-9E93-4A38-AED5-B66AA0AE3FD5}"/>
              </a:ext>
            </a:extLst>
          </p:cNvPr>
          <p:cNvGrpSpPr/>
          <p:nvPr/>
        </p:nvGrpSpPr>
        <p:grpSpPr>
          <a:xfrm>
            <a:off x="4781631" y="3921656"/>
            <a:ext cx="2244105" cy="420538"/>
            <a:chOff x="0" y="0"/>
            <a:chExt cx="916223" cy="171697"/>
          </a:xfrm>
        </p:grpSpPr>
        <p:sp>
          <p:nvSpPr>
            <p:cNvPr id="39" name="Freeform 3">
              <a:extLst>
                <a:ext uri="{FF2B5EF4-FFF2-40B4-BE49-F238E27FC236}">
                  <a16:creationId xmlns:a16="http://schemas.microsoft.com/office/drawing/2014/main" id="{62C6734E-07DC-4BDD-88A4-CECDAAC83C0A}"/>
                </a:ext>
              </a:extLst>
            </p:cNvPr>
            <p:cNvSpPr/>
            <p:nvPr/>
          </p:nvSpPr>
          <p:spPr>
            <a:xfrm>
              <a:off x="0" y="0"/>
              <a:ext cx="916223" cy="171697"/>
            </a:xfrm>
            <a:custGeom>
              <a:avLst/>
              <a:gdLst/>
              <a:ahLst/>
              <a:cxnLst/>
              <a:rect l="l" t="t" r="r" b="b"/>
              <a:pathLst>
                <a:path w="916223" h="171697">
                  <a:moveTo>
                    <a:pt x="85849" y="0"/>
                  </a:moveTo>
                  <a:lnTo>
                    <a:pt x="830375" y="0"/>
                  </a:lnTo>
                  <a:cubicBezTo>
                    <a:pt x="853143" y="0"/>
                    <a:pt x="874979" y="9045"/>
                    <a:pt x="891079" y="25144"/>
                  </a:cubicBezTo>
                  <a:cubicBezTo>
                    <a:pt x="907178" y="41244"/>
                    <a:pt x="916223" y="63080"/>
                    <a:pt x="916223" y="85849"/>
                  </a:cubicBezTo>
                  <a:lnTo>
                    <a:pt x="916223" y="85849"/>
                  </a:lnTo>
                  <a:cubicBezTo>
                    <a:pt x="916223" y="133261"/>
                    <a:pt x="877787" y="171697"/>
                    <a:pt x="830375" y="171697"/>
                  </a:cubicBezTo>
                  <a:lnTo>
                    <a:pt x="85849" y="171697"/>
                  </a:lnTo>
                  <a:cubicBezTo>
                    <a:pt x="38436" y="171697"/>
                    <a:pt x="0" y="133261"/>
                    <a:pt x="0" y="85849"/>
                  </a:cubicBezTo>
                  <a:lnTo>
                    <a:pt x="0" y="85849"/>
                  </a:lnTo>
                  <a:cubicBezTo>
                    <a:pt x="0" y="38436"/>
                    <a:pt x="38436" y="0"/>
                    <a:pt x="85849" y="0"/>
                  </a:cubicBezTo>
                  <a:close/>
                </a:path>
              </a:pathLst>
            </a:custGeom>
            <a:solidFill>
              <a:srgbClr val="698ACF"/>
            </a:solidFill>
          </p:spPr>
        </p:sp>
        <p:sp>
          <p:nvSpPr>
            <p:cNvPr id="40" name="TextBox 4">
              <a:extLst>
                <a:ext uri="{FF2B5EF4-FFF2-40B4-BE49-F238E27FC236}">
                  <a16:creationId xmlns:a16="http://schemas.microsoft.com/office/drawing/2014/main" id="{373D43A7-726C-4E7B-83DF-5FA0987DD9C4}"/>
                </a:ext>
              </a:extLst>
            </p:cNvPr>
            <p:cNvSpPr txBox="1"/>
            <p:nvPr/>
          </p:nvSpPr>
          <p:spPr>
            <a:xfrm>
              <a:off x="0" y="-47625"/>
              <a:ext cx="916223" cy="21932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141"/>
                </a:lnSpc>
              </a:pPr>
              <a:endParaRPr sz="1200"/>
            </a:p>
          </p:txBody>
        </p:sp>
      </p:grpSp>
      <p:sp>
        <p:nvSpPr>
          <p:cNvPr id="41" name="Freeform 5">
            <a:extLst>
              <a:ext uri="{FF2B5EF4-FFF2-40B4-BE49-F238E27FC236}">
                <a16:creationId xmlns:a16="http://schemas.microsoft.com/office/drawing/2014/main" id="{8F46449A-BEFA-4C92-80D8-D3545C30D413}"/>
              </a:ext>
            </a:extLst>
          </p:cNvPr>
          <p:cNvSpPr/>
          <p:nvPr/>
        </p:nvSpPr>
        <p:spPr>
          <a:xfrm>
            <a:off x="4991658" y="3996023"/>
            <a:ext cx="255157" cy="271805"/>
          </a:xfrm>
          <a:custGeom>
            <a:avLst/>
            <a:gdLst/>
            <a:ahLst/>
            <a:cxnLst/>
            <a:rect l="l" t="t" r="r" b="b"/>
            <a:pathLst>
              <a:path w="382735" h="407707">
                <a:moveTo>
                  <a:pt x="0" y="0"/>
                </a:moveTo>
                <a:lnTo>
                  <a:pt x="382734" y="0"/>
                </a:lnTo>
                <a:lnTo>
                  <a:pt x="382734" y="407707"/>
                </a:lnTo>
                <a:lnTo>
                  <a:pt x="0" y="407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16">
            <a:extLst>
              <a:ext uri="{FF2B5EF4-FFF2-40B4-BE49-F238E27FC236}">
                <a16:creationId xmlns:a16="http://schemas.microsoft.com/office/drawing/2014/main" id="{DD4E2A7A-548A-42F9-8CC2-E7E911B37174}"/>
              </a:ext>
            </a:extLst>
          </p:cNvPr>
          <p:cNvSpPr txBox="1"/>
          <p:nvPr/>
        </p:nvSpPr>
        <p:spPr>
          <a:xfrm>
            <a:off x="5710365" y="3988082"/>
            <a:ext cx="801083" cy="250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71"/>
              </a:lnSpc>
            </a:pPr>
            <a:r>
              <a:rPr lang="zh-CN" altLang="en-US" sz="1479" dirty="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陈家豪</a:t>
            </a:r>
            <a:endParaRPr lang="en-US" sz="1479" dirty="0">
              <a:solidFill>
                <a:srgbClr val="FFFFFF"/>
              </a:solidFill>
              <a:latin typeface="思源黑体"/>
              <a:ea typeface="思源黑体"/>
              <a:cs typeface="思源黑体"/>
              <a:sym typeface="思源黑体"/>
            </a:endParaRPr>
          </a:p>
        </p:txBody>
      </p:sp>
      <p:sp>
        <p:nvSpPr>
          <p:cNvPr id="48" name="TextBox 10">
            <a:extLst>
              <a:ext uri="{FF2B5EF4-FFF2-40B4-BE49-F238E27FC236}">
                <a16:creationId xmlns:a16="http://schemas.microsoft.com/office/drawing/2014/main" id="{7608580F-5D42-49B0-B9D1-4E4C7192FDF3}"/>
              </a:ext>
            </a:extLst>
          </p:cNvPr>
          <p:cNvSpPr txBox="1"/>
          <p:nvPr/>
        </p:nvSpPr>
        <p:spPr>
          <a:xfrm>
            <a:off x="2080356" y="5429313"/>
            <a:ext cx="765065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0"/>
              </a:lnSpc>
            </a:pPr>
            <a:r>
              <a:rPr lang="en-US" altLang="zh-CN" sz="3196" b="1" dirty="0">
                <a:solidFill>
                  <a:srgbClr val="698AC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Date: 2025/05/19</a:t>
            </a:r>
            <a:endParaRPr lang="en-US" sz="3196" b="1" dirty="0">
              <a:solidFill>
                <a:srgbClr val="698ACF"/>
              </a:solidFill>
              <a:latin typeface="Akzidenz-Grotesk Bold"/>
              <a:ea typeface="Akzidenz-Grotesk Bold"/>
              <a:cs typeface="Akzidenz-Grotesk Bold"/>
              <a:sym typeface="Akzidenz-Grotesk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A795EAA7-9DE1-4A77-AC08-C6D3827F1E9C}"/>
              </a:ext>
            </a:extLst>
          </p:cNvPr>
          <p:cNvSpPr txBox="1"/>
          <p:nvPr/>
        </p:nvSpPr>
        <p:spPr>
          <a:xfrm>
            <a:off x="514350" y="1578382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在高校教学管理中，毕业设计（论文） 是学生培养过程中的重要环节。教师需要收集并审核大量学生的论文材料如</a:t>
            </a:r>
            <a:endParaRPr lang="en-US" altLang="zh-CN" dirty="0"/>
          </a:p>
          <a:p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• 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论文正文（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PDF/Word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） </a:t>
            </a:r>
          </a:p>
          <a:p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• 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开题报告 </a:t>
            </a:r>
          </a:p>
          <a:p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• 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中期检查表 </a:t>
            </a:r>
          </a:p>
          <a:p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• 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查重报告 </a:t>
            </a:r>
          </a:p>
          <a:p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• 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其他附件 </a:t>
            </a:r>
          </a:p>
          <a:p>
            <a:r>
              <a:rPr lang="zh-CN" altLang="en-US" dirty="0"/>
              <a:t>然而，当前的管理方式通常依赖人工审核，存在以下痛点： </a:t>
            </a:r>
          </a:p>
          <a:p>
            <a:r>
              <a:rPr lang="en-US" altLang="zh-CN" dirty="0"/>
              <a:t>• 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材料规范性差</a:t>
            </a:r>
            <a:r>
              <a:rPr lang="zh-CN" altLang="en-US" dirty="0"/>
              <a:t>：学生提交的文件命名混乱（如论文</a:t>
            </a:r>
            <a:r>
              <a:rPr lang="en-US" altLang="zh-CN" dirty="0"/>
              <a:t>.docx</a:t>
            </a:r>
            <a:r>
              <a:rPr lang="zh-CN" altLang="en-US" dirty="0"/>
              <a:t>、张三</a:t>
            </a:r>
            <a:r>
              <a:rPr lang="en-US" altLang="zh-CN" dirty="0"/>
              <a:t>-final-</a:t>
            </a:r>
            <a:r>
              <a:rPr lang="zh-CN" altLang="en-US" dirty="0"/>
              <a:t>修改版</a:t>
            </a:r>
            <a:r>
              <a:rPr lang="en-US" altLang="zh-CN" dirty="0"/>
              <a:t>.pdf</a:t>
            </a:r>
            <a:r>
              <a:rPr lang="zh-CN" altLang="en-US" dirty="0"/>
              <a:t>），教师需手动检查并纠正。 </a:t>
            </a:r>
          </a:p>
          <a:p>
            <a:r>
              <a:rPr lang="en-US" altLang="zh-CN" dirty="0"/>
              <a:t>• 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审核效率低</a:t>
            </a:r>
            <a:r>
              <a:rPr lang="zh-CN" altLang="en-US" dirty="0"/>
              <a:t>：教师需逐一核对每份材料是否符合格式要求（如页眉页脚、参考文献格式、签名缺失等），耗时耗力。 </a:t>
            </a:r>
          </a:p>
          <a:p>
            <a:r>
              <a:rPr lang="en-US" altLang="zh-CN" dirty="0"/>
              <a:t>• 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遗漏风险高</a:t>
            </a:r>
            <a:r>
              <a:rPr lang="zh-CN" altLang="en-US" dirty="0"/>
              <a:t>：人工检查容易遗漏某些材料（如少交附件），影响最终存档完整性。 </a:t>
            </a:r>
          </a:p>
          <a:p>
            <a:r>
              <a:rPr lang="en-US" altLang="zh-CN" dirty="0"/>
              <a:t>• 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版本混乱</a:t>
            </a:r>
            <a:r>
              <a:rPr lang="zh-CN" altLang="en-US" dirty="0"/>
              <a:t>：学生多次提交不同版本，教师难以追踪最新有效文件。 </a:t>
            </a:r>
          </a:p>
          <a:p>
            <a:endParaRPr lang="zh-CN" altLang="en-US" dirty="0"/>
          </a:p>
        </p:txBody>
      </p:sp>
      <p:pic>
        <p:nvPicPr>
          <p:cNvPr id="1026" name="Picture 2" descr="毕业论文的组成部分_360新知">
            <a:extLst>
              <a:ext uri="{FF2B5EF4-FFF2-40B4-BE49-F238E27FC236}">
                <a16:creationId xmlns:a16="http://schemas.microsoft.com/office/drawing/2014/main" id="{EBC73978-D29B-4513-93CC-9D29F91A2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867537"/>
            <a:ext cx="4743450" cy="51229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  <a:reflection blurRad="6350" stA="50000" endA="300" endPos="385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F85AF4B-6711-4951-B38A-420D3912FE3C}"/>
              </a:ext>
            </a:extLst>
          </p:cNvPr>
          <p:cNvSpPr txBox="1"/>
          <p:nvPr/>
        </p:nvSpPr>
        <p:spPr>
          <a:xfrm>
            <a:off x="514350" y="54437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项目背景</a:t>
            </a:r>
          </a:p>
        </p:txBody>
      </p:sp>
    </p:spTree>
    <p:extLst>
      <p:ext uri="{BB962C8B-B14F-4D97-AF65-F5344CB8AC3E}">
        <p14:creationId xmlns:p14="http://schemas.microsoft.com/office/powerpoint/2010/main" val="931412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A795EAA7-9DE1-4A77-AC08-C6D3827F1E9C}"/>
              </a:ext>
            </a:extLst>
          </p:cNvPr>
          <p:cNvSpPr txBox="1"/>
          <p:nvPr/>
        </p:nvSpPr>
        <p:spPr>
          <a:xfrm>
            <a:off x="685800" y="1028343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为提高论文材料管理的自动化和标准化，本项目设计 </a:t>
            </a:r>
            <a:r>
              <a:rPr lang="en-US" altLang="zh-CN" dirty="0"/>
              <a:t>"</a:t>
            </a:r>
            <a:r>
              <a:rPr lang="zh-CN" altLang="en-US" dirty="0"/>
              <a:t>毕业论文材料自动审查系统</a:t>
            </a:r>
            <a:r>
              <a:rPr lang="en-US" altLang="zh-CN" dirty="0"/>
              <a:t>"</a:t>
            </a:r>
            <a:r>
              <a:rPr lang="zh-CN" altLang="en-US" dirty="0"/>
              <a:t>，主要实现： </a:t>
            </a:r>
          </a:p>
          <a:p>
            <a:r>
              <a:rPr lang="zh-CN" altLang="en-US" dirty="0"/>
              <a:t>✅  教师端： </a:t>
            </a:r>
          </a:p>
          <a:p>
            <a:r>
              <a:rPr lang="en-US" altLang="zh-CN" dirty="0"/>
              <a:t>• 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自定义审核规则</a:t>
            </a:r>
            <a:r>
              <a:rPr lang="zh-CN" altLang="en-US" dirty="0"/>
              <a:t>（如文件命名格式、必交材料清单、</a:t>
            </a:r>
            <a:r>
              <a:rPr lang="en-US" altLang="zh-CN" dirty="0"/>
              <a:t>PDF</a:t>
            </a:r>
            <a:r>
              <a:rPr lang="zh-CN" altLang="en-US" dirty="0"/>
              <a:t>签名校验等）。 </a:t>
            </a:r>
          </a:p>
          <a:p>
            <a:r>
              <a:rPr lang="en-US" altLang="zh-CN" dirty="0"/>
              <a:t>• 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批量审核学生提交的材料，自动生成问题报告。 </a:t>
            </a:r>
          </a:p>
          <a:p>
            <a:r>
              <a:rPr lang="en-US" altLang="zh-CN" dirty="0"/>
              <a:t>• 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一键查看合规材料，减少人工检查时间。 </a:t>
            </a:r>
          </a:p>
          <a:p>
            <a:r>
              <a:rPr lang="zh-CN" altLang="en-US" dirty="0"/>
              <a:t>✅  学生端： </a:t>
            </a:r>
          </a:p>
          <a:p>
            <a:r>
              <a:rPr lang="en-US" altLang="zh-CN" dirty="0"/>
              <a:t>• 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提交前预检，实时反馈格式问题</a:t>
            </a:r>
            <a:r>
              <a:rPr lang="zh-CN" altLang="en-US" dirty="0"/>
              <a:t>（如</a:t>
            </a:r>
            <a:r>
              <a:rPr lang="en-US" altLang="zh-CN" dirty="0"/>
              <a:t>"</a:t>
            </a:r>
            <a:r>
              <a:rPr lang="zh-CN" altLang="en-US" dirty="0"/>
              <a:t>文件名不符合学号</a:t>
            </a:r>
            <a:r>
              <a:rPr lang="en-US" altLang="zh-CN" dirty="0"/>
              <a:t>_</a:t>
            </a:r>
            <a:r>
              <a:rPr lang="zh-CN" altLang="en-US" dirty="0"/>
              <a:t>姓名</a:t>
            </a:r>
            <a:r>
              <a:rPr lang="en-US" altLang="zh-CN" dirty="0"/>
              <a:t>_</a:t>
            </a:r>
            <a:r>
              <a:rPr lang="zh-CN" altLang="en-US" dirty="0"/>
              <a:t>论文题目</a:t>
            </a:r>
            <a:r>
              <a:rPr lang="en-US" altLang="zh-CN" dirty="0"/>
              <a:t>.docx</a:t>
            </a:r>
            <a:r>
              <a:rPr lang="zh-CN" altLang="en-US" dirty="0"/>
              <a:t>格式</a:t>
            </a:r>
            <a:r>
              <a:rPr lang="en-US" altLang="zh-CN" dirty="0"/>
              <a:t>"</a:t>
            </a:r>
            <a:r>
              <a:rPr lang="zh-CN" altLang="en-US" dirty="0"/>
              <a:t>）。 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系统核心价值 </a:t>
            </a:r>
          </a:p>
          <a:p>
            <a:r>
              <a:rPr lang="en-US" altLang="zh-CN" dirty="0"/>
              <a:t>• 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效率提升</a:t>
            </a:r>
            <a:r>
              <a:rPr lang="zh-CN" altLang="en-US" dirty="0"/>
              <a:t>：自动审核</a:t>
            </a:r>
            <a:r>
              <a:rPr lang="en-US" altLang="zh-CN" dirty="0"/>
              <a:t>100</a:t>
            </a:r>
            <a:r>
              <a:rPr lang="zh-CN" altLang="en-US" dirty="0"/>
              <a:t>份论文仅需</a:t>
            </a:r>
            <a:r>
              <a:rPr lang="en-US" altLang="zh-CN" dirty="0"/>
              <a:t>5</a:t>
            </a:r>
            <a:r>
              <a:rPr lang="zh-CN" altLang="en-US" dirty="0"/>
              <a:t>分钟（人工需数小时）。 </a:t>
            </a:r>
          </a:p>
          <a:p>
            <a:r>
              <a:rPr lang="en-US" altLang="zh-CN" dirty="0"/>
              <a:t>• 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错误减少</a:t>
            </a:r>
            <a:r>
              <a:rPr lang="zh-CN" altLang="en-US" dirty="0"/>
              <a:t>：规则引擎精准识别格式问题（如页边距错误、缺失签名）。</a:t>
            </a:r>
            <a:endParaRPr lang="en-US" altLang="zh-CN" dirty="0"/>
          </a:p>
          <a:p>
            <a:r>
              <a:rPr lang="en-US" altLang="zh-CN" dirty="0"/>
              <a:t>• 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数据可追溯</a:t>
            </a:r>
            <a:r>
              <a:rPr lang="zh-CN" altLang="en-US" dirty="0"/>
              <a:t>：记录审核日志，支持教师查看历史操作。 </a:t>
            </a:r>
          </a:p>
        </p:txBody>
      </p:sp>
      <p:pic>
        <p:nvPicPr>
          <p:cNvPr id="2050" name="Picture 2" descr="《论文写作知识与技巧》序 - 知乎">
            <a:extLst>
              <a:ext uri="{FF2B5EF4-FFF2-40B4-BE49-F238E27FC236}">
                <a16:creationId xmlns:a16="http://schemas.microsoft.com/office/drawing/2014/main" id="{0B6D4A0F-7AD5-487E-9348-F4BC252410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00"/>
          <a:stretch/>
        </p:blipFill>
        <p:spPr bwMode="auto">
          <a:xfrm>
            <a:off x="7410449" y="1296160"/>
            <a:ext cx="4095751" cy="398068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6511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15" name="节缩放定位 14">
                <a:extLst>
                  <a:ext uri="{FF2B5EF4-FFF2-40B4-BE49-F238E27FC236}">
                    <a16:creationId xmlns:a16="http://schemas.microsoft.com/office/drawing/2014/main" id="{D4609ED7-A78D-42B3-9BB3-510D0058F25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66695601"/>
                  </p:ext>
                </p:extLst>
              </p:nvPr>
            </p:nvGraphicFramePr>
            <p:xfrm>
              <a:off x="7045443" y="2773578"/>
              <a:ext cx="3014132" cy="1695449"/>
            </p:xfrm>
            <a:graphic>
              <a:graphicData uri="http://schemas.microsoft.com/office/powerpoint/2016/sectionzoom">
                <psez:sectionZm>
                  <psez:sectionZmObj sectionId="{3369DC8C-A019-40FC-A446-5F0D4DD86B91}">
                    <psez:zmPr id="{501C3D73-574A-4378-80B5-6FC28B3CD802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14132" cy="169544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  <a:effectLst>
                          <a:outerShdw blurRad="50800" dist="38100" dir="5400000" algn="t" rotWithShape="0">
                            <a:prstClr val="black">
                              <a:alpha val="40000"/>
                            </a:prstClr>
                          </a:outerShdw>
                          <a:softEdge rad="2540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15" name="节缩放定位 1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D4609ED7-A78D-42B3-9BB3-510D0058F25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45443" y="2773578"/>
                <a:ext cx="3014132" cy="169544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softEdge rad="25400"/>
              </a:effectLst>
            </p:spPr>
          </p:pic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55FA8B57-23DA-458C-BDD9-1EBBE55EE820}"/>
              </a:ext>
            </a:extLst>
          </p:cNvPr>
          <p:cNvSpPr/>
          <p:nvPr/>
        </p:nvSpPr>
        <p:spPr>
          <a:xfrm>
            <a:off x="1864838" y="2270716"/>
            <a:ext cx="1246095" cy="704290"/>
          </a:xfrm>
          <a:prstGeom prst="rect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29000">
                <a:srgbClr val="ED7D31"/>
              </a:gs>
              <a:gs pos="52000">
                <a:schemeClr val="accent2">
                  <a:lumMod val="75000"/>
                </a:schemeClr>
              </a:gs>
              <a:gs pos="75000">
                <a:schemeClr val="accent2">
                  <a:lumMod val="75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  <a:softEdge rad="31750"/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学生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B026451-7070-40EC-ABA2-879ECDF0699D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110933" y="2622861"/>
            <a:ext cx="2438399" cy="827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9A33C32-F4EE-45EA-BA3A-534E950F4019}"/>
              </a:ext>
            </a:extLst>
          </p:cNvPr>
          <p:cNvCxnSpPr>
            <a:cxnSpLocks/>
          </p:cNvCxnSpPr>
          <p:nvPr/>
        </p:nvCxnSpPr>
        <p:spPr>
          <a:xfrm flipV="1">
            <a:off x="3110933" y="3863070"/>
            <a:ext cx="2438399" cy="827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3FA6C17-256F-44A4-8ADD-36436BA4BA5A}"/>
              </a:ext>
            </a:extLst>
          </p:cNvPr>
          <p:cNvCxnSpPr/>
          <p:nvPr/>
        </p:nvCxnSpPr>
        <p:spPr>
          <a:xfrm>
            <a:off x="6302368" y="3378976"/>
            <a:ext cx="743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A830E0E-F65D-477C-9AF0-1B058883EFF4}"/>
              </a:ext>
            </a:extLst>
          </p:cNvPr>
          <p:cNvCxnSpPr/>
          <p:nvPr/>
        </p:nvCxnSpPr>
        <p:spPr>
          <a:xfrm flipH="1">
            <a:off x="6302368" y="3773423"/>
            <a:ext cx="743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0325DF7-433A-473B-800E-85E22C936603}"/>
              </a:ext>
            </a:extLst>
          </p:cNvPr>
          <p:cNvSpPr txBox="1"/>
          <p:nvPr/>
        </p:nvSpPr>
        <p:spPr>
          <a:xfrm rot="1138898">
            <a:off x="4015901" y="2723776"/>
            <a:ext cx="682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材料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34BDDA4-401B-4823-8B5C-15CF934E49EC}"/>
              </a:ext>
            </a:extLst>
          </p:cNvPr>
          <p:cNvSpPr txBox="1"/>
          <p:nvPr/>
        </p:nvSpPr>
        <p:spPr>
          <a:xfrm rot="20402423">
            <a:off x="4015901" y="3880896"/>
            <a:ext cx="682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规则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C80DB90-1B52-4E50-B875-A10AA96CB4D2}"/>
              </a:ext>
            </a:extLst>
          </p:cNvPr>
          <p:cNvSpPr txBox="1"/>
          <p:nvPr/>
        </p:nvSpPr>
        <p:spPr>
          <a:xfrm>
            <a:off x="6332779" y="3009644"/>
            <a:ext cx="682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请求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E62546-C86C-42B0-8917-C6766A974B28}"/>
              </a:ext>
            </a:extLst>
          </p:cNvPr>
          <p:cNvSpPr txBox="1"/>
          <p:nvPr/>
        </p:nvSpPr>
        <p:spPr>
          <a:xfrm>
            <a:off x="6332779" y="3829122"/>
            <a:ext cx="682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材料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F83D099-50FB-4CA5-B829-70D0C180E22A}"/>
              </a:ext>
            </a:extLst>
          </p:cNvPr>
          <p:cNvSpPr/>
          <p:nvPr/>
        </p:nvSpPr>
        <p:spPr>
          <a:xfrm>
            <a:off x="1908663" y="4338759"/>
            <a:ext cx="1246095" cy="704290"/>
          </a:xfrm>
          <a:prstGeom prst="rect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29000">
                <a:srgbClr val="ED7D31"/>
              </a:gs>
              <a:gs pos="52000">
                <a:schemeClr val="accent2">
                  <a:lumMod val="75000"/>
                </a:schemeClr>
              </a:gs>
              <a:gs pos="75000">
                <a:schemeClr val="accent2">
                  <a:lumMod val="75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  <a:softEdge rad="31750"/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教务处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65EDC83-2F1A-43A5-A4F3-D5114C4658EA}"/>
              </a:ext>
            </a:extLst>
          </p:cNvPr>
          <p:cNvSpPr/>
          <p:nvPr/>
        </p:nvSpPr>
        <p:spPr>
          <a:xfrm>
            <a:off x="5549332" y="2270716"/>
            <a:ext cx="765283" cy="2772334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29000">
                <a:schemeClr val="accent1">
                  <a:lumMod val="40000"/>
                  <a:lumOff val="6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5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FF00"/>
                </a:solidFill>
              </a:rPr>
              <a:t>平台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76E7683-4B18-4E3F-B767-9167024D693E}"/>
              </a:ext>
            </a:extLst>
          </p:cNvPr>
          <p:cNvSpPr txBox="1"/>
          <p:nvPr/>
        </p:nvSpPr>
        <p:spPr>
          <a:xfrm>
            <a:off x="523494" y="736321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0</a:t>
            </a:r>
            <a:r>
              <a:rPr lang="zh-CN" altLang="en-US" sz="3600" b="1" dirty="0"/>
              <a:t>层数据流图</a:t>
            </a:r>
          </a:p>
        </p:txBody>
      </p:sp>
    </p:spTree>
    <p:extLst>
      <p:ext uri="{BB962C8B-B14F-4D97-AF65-F5344CB8AC3E}">
        <p14:creationId xmlns:p14="http://schemas.microsoft.com/office/powerpoint/2010/main" val="1616547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BEEDE23-4525-417C-96E1-1932B39D7A05}"/>
              </a:ext>
            </a:extLst>
          </p:cNvPr>
          <p:cNvSpPr txBox="1"/>
          <p:nvPr/>
        </p:nvSpPr>
        <p:spPr>
          <a:xfrm>
            <a:off x="0" y="2505670"/>
            <a:ext cx="121920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dirty="0">
                <a:solidFill>
                  <a:schemeClr val="bg1"/>
                </a:solidFill>
              </a:rPr>
              <a:t>材料自动审查系统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9987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FBBF0A6-D698-45DB-9B26-1BBBA4536282}"/>
              </a:ext>
            </a:extLst>
          </p:cNvPr>
          <p:cNvSpPr txBox="1"/>
          <p:nvPr/>
        </p:nvSpPr>
        <p:spPr>
          <a:xfrm>
            <a:off x="3048000" y="15151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</a:rPr>
              <a:t>材料自动审查系统</a:t>
            </a:r>
          </a:p>
        </p:txBody>
      </p:sp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14" name="节缩放定位 13">
                <a:extLst>
                  <a:ext uri="{FF2B5EF4-FFF2-40B4-BE49-F238E27FC236}">
                    <a16:creationId xmlns:a16="http://schemas.microsoft.com/office/drawing/2014/main" id="{BE5A32F0-0044-4016-8C55-196E3477FD7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86663145"/>
                  </p:ext>
                </p:extLst>
              </p:nvPr>
            </p:nvGraphicFramePr>
            <p:xfrm>
              <a:off x="1502042" y="2867025"/>
              <a:ext cx="1998132" cy="1123950"/>
            </p:xfrm>
            <a:graphic>
              <a:graphicData uri="http://schemas.microsoft.com/office/powerpoint/2016/sectionzoom">
                <psez:sectionZm>
                  <psez:sectionZmObj sectionId="{C404C7AA-A7A0-4E85-B244-4797BEC8C153}">
                    <psez:zmPr id="{63222029-4DBE-447B-AC66-908AB89D72A5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98132" cy="112395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14" name="节缩放定位 13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BE5A32F0-0044-4016-8C55-196E3477FD7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02042" y="2867025"/>
                <a:ext cx="1998132" cy="112395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16" name="节缩放定位 15">
                <a:extLst>
                  <a:ext uri="{FF2B5EF4-FFF2-40B4-BE49-F238E27FC236}">
                    <a16:creationId xmlns:a16="http://schemas.microsoft.com/office/drawing/2014/main" id="{72A26A52-21B8-4C50-A1D1-0C9333FBA70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35947587"/>
                  </p:ext>
                </p:extLst>
              </p:nvPr>
            </p:nvGraphicFramePr>
            <p:xfrm>
              <a:off x="3898635" y="2867025"/>
              <a:ext cx="1998133" cy="1123950"/>
            </p:xfrm>
            <a:graphic>
              <a:graphicData uri="http://schemas.microsoft.com/office/powerpoint/2016/sectionzoom">
                <psez:sectionZm>
                  <psez:sectionZmObj sectionId="{ADA066D4-C28E-4206-9384-2D0E09290464}">
                    <psez:zmPr id="{466B1966-2EE5-411B-AF91-356F099CD72A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98133" cy="112395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16" name="节缩放定位 15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72A26A52-21B8-4C50-A1D1-0C9333FBA70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98635" y="2867025"/>
                <a:ext cx="1998133" cy="112395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18" name="节缩放定位 17">
                <a:extLst>
                  <a:ext uri="{FF2B5EF4-FFF2-40B4-BE49-F238E27FC236}">
                    <a16:creationId xmlns:a16="http://schemas.microsoft.com/office/drawing/2014/main" id="{65665D4F-EE82-4DA6-919B-13E5B3ABA79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05608177"/>
                  </p:ext>
                </p:extLst>
              </p:nvPr>
            </p:nvGraphicFramePr>
            <p:xfrm>
              <a:off x="6295230" y="2867025"/>
              <a:ext cx="1998133" cy="1123950"/>
            </p:xfrm>
            <a:graphic>
              <a:graphicData uri="http://schemas.microsoft.com/office/powerpoint/2016/sectionzoom">
                <psez:sectionZm>
                  <psez:sectionZmObj sectionId="{590C30FC-6295-4176-9A36-0F89F21C2903}">
                    <psez:zmPr id="{194D27AC-4F46-4846-8390-4F1B9555ECFF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98133" cy="112395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18" name="节缩放定位 17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65665D4F-EE82-4DA6-919B-13E5B3ABA79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95230" y="2867025"/>
                <a:ext cx="1998133" cy="112395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20" name="节缩放定位 19">
                <a:extLst>
                  <a:ext uri="{FF2B5EF4-FFF2-40B4-BE49-F238E27FC236}">
                    <a16:creationId xmlns:a16="http://schemas.microsoft.com/office/drawing/2014/main" id="{6A553052-8C5D-4C8F-AE72-B537A403865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26704286"/>
                  </p:ext>
                </p:extLst>
              </p:nvPr>
            </p:nvGraphicFramePr>
            <p:xfrm>
              <a:off x="8691824" y="2867025"/>
              <a:ext cx="1998133" cy="1123950"/>
            </p:xfrm>
            <a:graphic>
              <a:graphicData uri="http://schemas.microsoft.com/office/powerpoint/2016/sectionzoom">
                <psez:sectionZm>
                  <psez:sectionZmObj sectionId="{9B140EA2-3257-4F91-AA44-48FFB537FEA3}">
                    <psez:zmPr id="{58463839-53DE-41B5-99B9-9E591B715D64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98133" cy="112395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20" name="节缩放定位 19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6A553052-8C5D-4C8F-AE72-B537A403865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91824" y="2867025"/>
                <a:ext cx="1998133" cy="112395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542E3B1-0EE3-463D-A9B1-07A63C689DDE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3500174" y="3429000"/>
            <a:ext cx="3984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8CACB0E-AFB7-4F53-BD08-C35712948D59}"/>
              </a:ext>
            </a:extLst>
          </p:cNvPr>
          <p:cNvCxnSpPr>
            <a:cxnSpLocks/>
          </p:cNvCxnSpPr>
          <p:nvPr/>
        </p:nvCxnSpPr>
        <p:spPr>
          <a:xfrm>
            <a:off x="5896768" y="3419475"/>
            <a:ext cx="3984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407B908-09F5-4FA9-AF34-71E8E75E918D}"/>
              </a:ext>
            </a:extLst>
          </p:cNvPr>
          <p:cNvCxnSpPr>
            <a:cxnSpLocks/>
          </p:cNvCxnSpPr>
          <p:nvPr/>
        </p:nvCxnSpPr>
        <p:spPr>
          <a:xfrm>
            <a:off x="8293363" y="3419475"/>
            <a:ext cx="3984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9" name="箭头: 右 28">
            <a:extLst>
              <a:ext uri="{FF2B5EF4-FFF2-40B4-BE49-F238E27FC236}">
                <a16:creationId xmlns:a16="http://schemas.microsoft.com/office/drawing/2014/main" id="{16181E1F-F00B-448E-AD78-035E346BCF73}"/>
              </a:ext>
            </a:extLst>
          </p:cNvPr>
          <p:cNvSpPr/>
          <p:nvPr/>
        </p:nvSpPr>
        <p:spPr>
          <a:xfrm>
            <a:off x="33338" y="3271837"/>
            <a:ext cx="1341971" cy="31432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7F96C1A3-6572-4BF9-B230-11DE0CB2A8BF}"/>
              </a:ext>
            </a:extLst>
          </p:cNvPr>
          <p:cNvSpPr/>
          <p:nvPr/>
        </p:nvSpPr>
        <p:spPr>
          <a:xfrm>
            <a:off x="10816691" y="3262312"/>
            <a:ext cx="1341971" cy="31432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0A366487-0678-4D94-8E88-3956938E0B46}"/>
              </a:ext>
            </a:extLst>
          </p:cNvPr>
          <p:cNvSpPr/>
          <p:nvPr/>
        </p:nvSpPr>
        <p:spPr>
          <a:xfrm rot="5400000">
            <a:off x="3725860" y="2038877"/>
            <a:ext cx="1341971" cy="31432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5A1B812-ACE9-4044-B8D7-983C7958923A}"/>
              </a:ext>
            </a:extLst>
          </p:cNvPr>
          <p:cNvSpPr/>
          <p:nvPr/>
        </p:nvSpPr>
        <p:spPr>
          <a:xfrm rot="16200000">
            <a:off x="2210343" y="-589045"/>
            <a:ext cx="143907" cy="43721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23D3108-DC5C-47DE-98F8-63A71E1ABD04}"/>
              </a:ext>
            </a:extLst>
          </p:cNvPr>
          <p:cNvSpPr txBox="1"/>
          <p:nvPr/>
        </p:nvSpPr>
        <p:spPr>
          <a:xfrm>
            <a:off x="3481327" y="2773143"/>
            <a:ext cx="398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材料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28B865C-1F6E-43F4-AAD7-D1DE197FFABB}"/>
              </a:ext>
            </a:extLst>
          </p:cNvPr>
          <p:cNvSpPr txBox="1"/>
          <p:nvPr/>
        </p:nvSpPr>
        <p:spPr>
          <a:xfrm>
            <a:off x="2051174" y="115572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规则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047923E-6F29-40DE-9218-B6ADA829166A}"/>
              </a:ext>
            </a:extLst>
          </p:cNvPr>
          <p:cNvSpPr txBox="1"/>
          <p:nvPr/>
        </p:nvSpPr>
        <p:spPr>
          <a:xfrm>
            <a:off x="333315" y="299805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材料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A9593C1-71FB-4FB6-96EC-024C9606EBD4}"/>
              </a:ext>
            </a:extLst>
          </p:cNvPr>
          <p:cNvSpPr txBox="1"/>
          <p:nvPr/>
        </p:nvSpPr>
        <p:spPr>
          <a:xfrm>
            <a:off x="5874012" y="2735727"/>
            <a:ext cx="398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材料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EC7EF24-DA7E-4487-8455-BB87B5EBEC6F}"/>
              </a:ext>
            </a:extLst>
          </p:cNvPr>
          <p:cNvSpPr txBox="1"/>
          <p:nvPr/>
        </p:nvSpPr>
        <p:spPr>
          <a:xfrm>
            <a:off x="8269180" y="2731739"/>
            <a:ext cx="398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材料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209A8A5-2404-4649-AAB4-66446DB6E78B}"/>
              </a:ext>
            </a:extLst>
          </p:cNvPr>
          <p:cNvSpPr txBox="1"/>
          <p:nvPr/>
        </p:nvSpPr>
        <p:spPr>
          <a:xfrm>
            <a:off x="11164510" y="300873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材料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B326B41-97DD-456D-B236-42DB560EF5DD}"/>
              </a:ext>
            </a:extLst>
          </p:cNvPr>
          <p:cNvSpPr/>
          <p:nvPr/>
        </p:nvSpPr>
        <p:spPr>
          <a:xfrm>
            <a:off x="3898635" y="4946212"/>
            <a:ext cx="1998133" cy="4665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D1 | </a:t>
            </a:r>
            <a:r>
              <a:rPr lang="zh-CN" altLang="en-US" dirty="0">
                <a:solidFill>
                  <a:schemeClr val="tx1"/>
                </a:solidFill>
              </a:rPr>
              <a:t>审查报告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7F5BD74-1E74-4117-A8BF-B4E7F8A305FA}"/>
              </a:ext>
            </a:extLst>
          </p:cNvPr>
          <p:cNvSpPr/>
          <p:nvPr/>
        </p:nvSpPr>
        <p:spPr>
          <a:xfrm>
            <a:off x="6271047" y="4946212"/>
            <a:ext cx="1998133" cy="4665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D2 | </a:t>
            </a:r>
            <a:r>
              <a:rPr lang="zh-CN" altLang="en-US" dirty="0">
                <a:solidFill>
                  <a:schemeClr val="tx1"/>
                </a:solidFill>
              </a:rPr>
              <a:t>材料文件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5C959091-71E5-4749-BCEF-D0FD857656BC}"/>
              </a:ext>
            </a:extLst>
          </p:cNvPr>
          <p:cNvCxnSpPr>
            <a:cxnSpLocks/>
            <a:stCxn id="16" idx="2"/>
            <a:endCxn id="43" idx="0"/>
          </p:cNvCxnSpPr>
          <p:nvPr/>
        </p:nvCxnSpPr>
        <p:spPr>
          <a:xfrm>
            <a:off x="4897702" y="3990975"/>
            <a:ext cx="0" cy="955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912F8DE9-AB1C-4544-83DB-35DADD2BABC6}"/>
              </a:ext>
            </a:extLst>
          </p:cNvPr>
          <p:cNvCxnSpPr>
            <a:cxnSpLocks/>
          </p:cNvCxnSpPr>
          <p:nvPr/>
        </p:nvCxnSpPr>
        <p:spPr>
          <a:xfrm>
            <a:off x="7288477" y="3990975"/>
            <a:ext cx="0" cy="9552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38B752AF-FAE0-42F0-80A1-6A0502C4BE23}"/>
              </a:ext>
            </a:extLst>
          </p:cNvPr>
          <p:cNvSpPr txBox="1"/>
          <p:nvPr/>
        </p:nvSpPr>
        <p:spPr>
          <a:xfrm>
            <a:off x="7287681" y="4162390"/>
            <a:ext cx="398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材料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6EAADD4-A281-4034-9B6F-299792CC8AD2}"/>
              </a:ext>
            </a:extLst>
          </p:cNvPr>
          <p:cNvSpPr txBox="1"/>
          <p:nvPr/>
        </p:nvSpPr>
        <p:spPr>
          <a:xfrm>
            <a:off x="4904320" y="4154953"/>
            <a:ext cx="398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报告</a:t>
            </a:r>
          </a:p>
        </p:txBody>
      </p:sp>
    </p:spTree>
    <p:extLst>
      <p:ext uri="{BB962C8B-B14F-4D97-AF65-F5344CB8AC3E}">
        <p14:creationId xmlns:p14="http://schemas.microsoft.com/office/powerpoint/2010/main" val="3115887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6968CFE-E808-4C90-A505-E79E48AA1EC6}"/>
              </a:ext>
            </a:extLst>
          </p:cNvPr>
          <p:cNvGrpSpPr/>
          <p:nvPr/>
        </p:nvGrpSpPr>
        <p:grpSpPr>
          <a:xfrm>
            <a:off x="295274" y="309562"/>
            <a:ext cx="11601451" cy="6238875"/>
            <a:chOff x="2362200" y="2447925"/>
            <a:chExt cx="1762125" cy="1123950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74AAC33E-1FA8-411A-9F25-9A7EA5A19195}"/>
                </a:ext>
              </a:extLst>
            </p:cNvPr>
            <p:cNvSpPr/>
            <p:nvPr/>
          </p:nvSpPr>
          <p:spPr>
            <a:xfrm>
              <a:off x="2362200" y="2447925"/>
              <a:ext cx="1762125" cy="1123950"/>
            </a:xfrm>
            <a:prstGeom prst="roundRect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6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F5985A1A-D67F-4D66-967C-EAAF35FF013E}"/>
                </a:ext>
              </a:extLst>
            </p:cNvPr>
            <p:cNvCxnSpPr/>
            <p:nvPr/>
          </p:nvCxnSpPr>
          <p:spPr>
            <a:xfrm>
              <a:off x="2362200" y="2762250"/>
              <a:ext cx="1762125" cy="0"/>
            </a:xfrm>
            <a:prstGeom prst="line">
              <a:avLst/>
            </a:prstGeom>
            <a:ln w="38100"/>
            <a:effectLst>
              <a:outerShdw blurRad="50800" dist="50800" dir="5400000" sx="1000" sy="1000" algn="ctr" rotWithShape="0">
                <a:srgbClr val="000000">
                  <a:alpha val="43137"/>
                </a:srgb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4DD7875-27E3-4D32-ADFB-96A2EF229338}"/>
                </a:ext>
              </a:extLst>
            </p:cNvPr>
            <p:cNvSpPr txBox="1"/>
            <p:nvPr/>
          </p:nvSpPr>
          <p:spPr>
            <a:xfrm>
              <a:off x="3116624" y="2475618"/>
              <a:ext cx="266170" cy="282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600" dirty="0"/>
                <a:t>1.0</a:t>
              </a:r>
              <a:endParaRPr lang="zh-CN" altLang="en-US" sz="9600" dirty="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1BFD6FC7-7E53-44E8-AD48-DA7E5A5E1A1C}"/>
              </a:ext>
            </a:extLst>
          </p:cNvPr>
          <p:cNvSpPr txBox="1"/>
          <p:nvPr/>
        </p:nvSpPr>
        <p:spPr>
          <a:xfrm>
            <a:off x="2968343" y="3495162"/>
            <a:ext cx="63401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>
                <a:solidFill>
                  <a:schemeClr val="tx1"/>
                </a:solidFill>
              </a:rPr>
              <a:t>文件预处理</a:t>
            </a:r>
            <a:endParaRPr lang="en-US" altLang="zh-CN" sz="9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954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19D05D2-B5C0-4A8C-8BA4-FE7C99B59DF7}"/>
              </a:ext>
            </a:extLst>
          </p:cNvPr>
          <p:cNvSpPr txBox="1"/>
          <p:nvPr/>
        </p:nvSpPr>
        <p:spPr>
          <a:xfrm>
            <a:off x="4977745" y="7620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</a:rPr>
              <a:t>文件预处理</a:t>
            </a:r>
            <a:endParaRPr lang="en-US" altLang="zh-CN" sz="3200" dirty="0">
              <a:solidFill>
                <a:schemeClr val="tx1"/>
              </a:solidFill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7A59ADC5-D411-405A-9AEE-F2DCF7F8083A}"/>
              </a:ext>
            </a:extLst>
          </p:cNvPr>
          <p:cNvSpPr/>
          <p:nvPr/>
        </p:nvSpPr>
        <p:spPr>
          <a:xfrm>
            <a:off x="1333500" y="4086225"/>
            <a:ext cx="1457325" cy="2762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FAA7F8-DD1D-4732-A84B-470EBC5B4439}"/>
              </a:ext>
            </a:extLst>
          </p:cNvPr>
          <p:cNvSpPr/>
          <p:nvPr/>
        </p:nvSpPr>
        <p:spPr>
          <a:xfrm>
            <a:off x="2820332" y="3848099"/>
            <a:ext cx="1381125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格式转换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BAA108-A207-41B7-9E63-3F86FFF2CF9B}"/>
              </a:ext>
            </a:extLst>
          </p:cNvPr>
          <p:cNvSpPr/>
          <p:nvPr/>
        </p:nvSpPr>
        <p:spPr>
          <a:xfrm>
            <a:off x="5472112" y="3848098"/>
            <a:ext cx="1381125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文本提取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067F2E-7416-47D6-8D69-66E2D7A5CB58}"/>
              </a:ext>
            </a:extLst>
          </p:cNvPr>
          <p:cNvSpPr/>
          <p:nvPr/>
        </p:nvSpPr>
        <p:spPr>
          <a:xfrm>
            <a:off x="8123892" y="3848098"/>
            <a:ext cx="1381125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结构化数据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2BDE1E2-0413-46E6-B32F-BAF1F1EB85E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4201457" y="4224336"/>
            <a:ext cx="1270655" cy="1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229A62B-3628-40FC-B805-F1B05B9FF2E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6853237" y="4224336"/>
            <a:ext cx="1270655" cy="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BE39B1E7-BCAB-4AD5-B41D-D04A5417197B}"/>
              </a:ext>
            </a:extLst>
          </p:cNvPr>
          <p:cNvSpPr/>
          <p:nvPr/>
        </p:nvSpPr>
        <p:spPr>
          <a:xfrm>
            <a:off x="2820332" y="2345024"/>
            <a:ext cx="1381125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PDFBox</a:t>
            </a:r>
            <a:endParaRPr lang="en-US" altLang="zh-CN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E324F66-CA94-4A9A-83BF-8AAB31BC83D9}"/>
              </a:ext>
            </a:extLst>
          </p:cNvPr>
          <p:cNvCxnSpPr>
            <a:cxnSpLocks/>
            <a:endCxn id="16" idx="2"/>
          </p:cNvCxnSpPr>
          <p:nvPr/>
        </p:nvCxnSpPr>
        <p:spPr>
          <a:xfrm flipH="1" flipV="1">
            <a:off x="3510895" y="3097499"/>
            <a:ext cx="1" cy="750599"/>
          </a:xfrm>
          <a:prstGeom prst="straightConnector1">
            <a:avLst/>
          </a:prstGeom>
          <a:ln w="4445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9432FAB7-49CE-4267-8FC0-DFF48321DC33}"/>
              </a:ext>
            </a:extLst>
          </p:cNvPr>
          <p:cNvSpPr/>
          <p:nvPr/>
        </p:nvSpPr>
        <p:spPr>
          <a:xfrm>
            <a:off x="5472111" y="2345024"/>
            <a:ext cx="1381125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Tesseract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D9C009B-B85F-49EA-83CE-B96C669A8A6A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6162674" y="3097499"/>
            <a:ext cx="2" cy="750599"/>
          </a:xfrm>
          <a:prstGeom prst="straightConnector1">
            <a:avLst/>
          </a:prstGeom>
          <a:ln w="4445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74D5A362-3C6F-4CC1-A0C5-97330B6E811E}"/>
              </a:ext>
            </a:extLst>
          </p:cNvPr>
          <p:cNvSpPr txBox="1"/>
          <p:nvPr/>
        </p:nvSpPr>
        <p:spPr>
          <a:xfrm>
            <a:off x="3499180" y="3287196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Pdf</a:t>
            </a:r>
            <a:r>
              <a:rPr lang="zh-CN" altLang="en-US" dirty="0"/>
              <a:t>解析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3F75252-A57D-4D95-A78E-8E318BD727F4}"/>
              </a:ext>
            </a:extLst>
          </p:cNvPr>
          <p:cNvSpPr txBox="1"/>
          <p:nvPr/>
        </p:nvSpPr>
        <p:spPr>
          <a:xfrm>
            <a:off x="6198739" y="3304371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OCR</a:t>
            </a:r>
            <a:endParaRPr lang="zh-CN" altLang="en-US" dirty="0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D325C1F6-5838-4353-8804-3CADC67A4316}"/>
              </a:ext>
            </a:extLst>
          </p:cNvPr>
          <p:cNvSpPr/>
          <p:nvPr/>
        </p:nvSpPr>
        <p:spPr>
          <a:xfrm>
            <a:off x="9572624" y="4086225"/>
            <a:ext cx="1457325" cy="2762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1F96FA1-FD3A-4C68-96A5-13D4CED4DCE1}"/>
              </a:ext>
            </a:extLst>
          </p:cNvPr>
          <p:cNvSpPr txBox="1"/>
          <p:nvPr/>
        </p:nvSpPr>
        <p:spPr>
          <a:xfrm>
            <a:off x="1503620" y="382610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原始论文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BE9AD95-CABE-41CC-9955-45363DECFA34}"/>
              </a:ext>
            </a:extLst>
          </p:cNvPr>
          <p:cNvSpPr txBox="1"/>
          <p:nvPr/>
        </p:nvSpPr>
        <p:spPr>
          <a:xfrm>
            <a:off x="4513619" y="388324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论文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05D6D8B-939D-43A2-B258-F497466E2FEB}"/>
              </a:ext>
            </a:extLst>
          </p:cNvPr>
          <p:cNvSpPr txBox="1"/>
          <p:nvPr/>
        </p:nvSpPr>
        <p:spPr>
          <a:xfrm>
            <a:off x="7165398" y="386419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内容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841E6C2-5787-44B7-96D1-614A47C19639}"/>
              </a:ext>
            </a:extLst>
          </p:cNvPr>
          <p:cNvSpPr txBox="1"/>
          <p:nvPr/>
        </p:nvSpPr>
        <p:spPr>
          <a:xfrm>
            <a:off x="9634535" y="382610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格式化内容</a:t>
            </a:r>
          </a:p>
        </p:txBody>
      </p:sp>
    </p:spTree>
    <p:extLst>
      <p:ext uri="{BB962C8B-B14F-4D97-AF65-F5344CB8AC3E}">
        <p14:creationId xmlns:p14="http://schemas.microsoft.com/office/powerpoint/2010/main" val="9915797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6968CFE-E808-4C90-A505-E79E48AA1EC6}"/>
              </a:ext>
            </a:extLst>
          </p:cNvPr>
          <p:cNvGrpSpPr/>
          <p:nvPr/>
        </p:nvGrpSpPr>
        <p:grpSpPr>
          <a:xfrm>
            <a:off x="295274" y="309562"/>
            <a:ext cx="11601451" cy="6238875"/>
            <a:chOff x="2362200" y="2447925"/>
            <a:chExt cx="1762125" cy="1123950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74AAC33E-1FA8-411A-9F25-9A7EA5A19195}"/>
                </a:ext>
              </a:extLst>
            </p:cNvPr>
            <p:cNvSpPr/>
            <p:nvPr/>
          </p:nvSpPr>
          <p:spPr>
            <a:xfrm>
              <a:off x="2362200" y="2447925"/>
              <a:ext cx="1762125" cy="1123950"/>
            </a:xfrm>
            <a:prstGeom prst="roundRect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6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F5985A1A-D67F-4D66-967C-EAAF35FF013E}"/>
                </a:ext>
              </a:extLst>
            </p:cNvPr>
            <p:cNvCxnSpPr/>
            <p:nvPr/>
          </p:nvCxnSpPr>
          <p:spPr>
            <a:xfrm>
              <a:off x="2362200" y="2762250"/>
              <a:ext cx="1762125" cy="0"/>
            </a:xfrm>
            <a:prstGeom prst="line">
              <a:avLst/>
            </a:prstGeom>
            <a:ln w="38100"/>
            <a:effectLst>
              <a:outerShdw blurRad="50800" dist="50800" dir="5400000" sx="1000" sy="1000" algn="ctr" rotWithShape="0">
                <a:srgbClr val="000000">
                  <a:alpha val="43137"/>
                </a:srgb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4DD7875-27E3-4D32-ADFB-96A2EF229338}"/>
                </a:ext>
              </a:extLst>
            </p:cNvPr>
            <p:cNvSpPr txBox="1"/>
            <p:nvPr/>
          </p:nvSpPr>
          <p:spPr>
            <a:xfrm>
              <a:off x="3116624" y="2475618"/>
              <a:ext cx="266170" cy="282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600" dirty="0"/>
                <a:t>2.0</a:t>
              </a:r>
              <a:endParaRPr lang="zh-CN" altLang="en-US" sz="9600" dirty="0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6F7A8F63-F15F-432E-A870-BCA885FE2C29}"/>
              </a:ext>
            </a:extLst>
          </p:cNvPr>
          <p:cNvSpPr txBox="1"/>
          <p:nvPr/>
        </p:nvSpPr>
        <p:spPr>
          <a:xfrm>
            <a:off x="3583896" y="349516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600" dirty="0">
                <a:solidFill>
                  <a:schemeClr val="tx1"/>
                </a:solidFill>
              </a:rPr>
              <a:t>自动审查</a:t>
            </a:r>
            <a:endParaRPr lang="en-US" altLang="zh-CN" sz="9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430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6DF90C-25EE-484D-9AAF-14CE658A5781}"/>
              </a:ext>
            </a:extLst>
          </p:cNvPr>
          <p:cNvSpPr txBox="1"/>
          <p:nvPr/>
        </p:nvSpPr>
        <p:spPr>
          <a:xfrm>
            <a:off x="4977745" y="7620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自动审查</a:t>
            </a:r>
            <a:endParaRPr lang="en-US" altLang="zh-CN" sz="3200" dirty="0">
              <a:solidFill>
                <a:schemeClr val="tx1"/>
              </a:solidFill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847E42FB-B6C1-45C8-89EB-2CF75F8DB7D8}"/>
              </a:ext>
            </a:extLst>
          </p:cNvPr>
          <p:cNvSpPr/>
          <p:nvPr/>
        </p:nvSpPr>
        <p:spPr>
          <a:xfrm>
            <a:off x="0" y="4048126"/>
            <a:ext cx="1457325" cy="2762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697067-4906-4EFB-B54A-F452C7C7D15F}"/>
              </a:ext>
            </a:extLst>
          </p:cNvPr>
          <p:cNvSpPr/>
          <p:nvPr/>
        </p:nvSpPr>
        <p:spPr>
          <a:xfrm>
            <a:off x="1486832" y="3810000"/>
            <a:ext cx="1381125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规则匹配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CFDED2-812B-49FB-93F3-F7E3BE4DC502}"/>
              </a:ext>
            </a:extLst>
          </p:cNvPr>
          <p:cNvSpPr/>
          <p:nvPr/>
        </p:nvSpPr>
        <p:spPr>
          <a:xfrm>
            <a:off x="4138612" y="3809999"/>
            <a:ext cx="1381125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问题标记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A86FBCC-742F-48D2-BA20-364798645CFF}"/>
              </a:ext>
            </a:extLst>
          </p:cNvPr>
          <p:cNvSpPr/>
          <p:nvPr/>
        </p:nvSpPr>
        <p:spPr>
          <a:xfrm>
            <a:off x="6790392" y="3809999"/>
            <a:ext cx="1381125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报告生成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1C03746-F81C-4407-B69C-DE8CC1DC3ABC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2867957" y="4186237"/>
            <a:ext cx="1270655" cy="1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EA264A4-329A-4F82-87E3-285FE1B7CB7A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519737" y="4186237"/>
            <a:ext cx="1270655" cy="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50D5C7E3-CBDF-4691-950D-1E71C63DBD22}"/>
              </a:ext>
            </a:extLst>
          </p:cNvPr>
          <p:cNvSpPr/>
          <p:nvPr/>
        </p:nvSpPr>
        <p:spPr>
          <a:xfrm>
            <a:off x="4067519" y="2318203"/>
            <a:ext cx="1595439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人工复刻接口</a:t>
            </a:r>
            <a:endParaRPr lang="en-US" altLang="zh-CN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531EB99-EBAC-4E6D-9351-252BE80A29AF}"/>
              </a:ext>
            </a:extLst>
          </p:cNvPr>
          <p:cNvCxnSpPr>
            <a:cxnSpLocks/>
            <a:stCxn id="5" idx="0"/>
            <a:endCxn id="11" idx="2"/>
          </p:cNvCxnSpPr>
          <p:nvPr/>
        </p:nvCxnSpPr>
        <p:spPr>
          <a:xfrm flipV="1">
            <a:off x="4829175" y="3070678"/>
            <a:ext cx="36064" cy="739321"/>
          </a:xfrm>
          <a:prstGeom prst="straightConnector1">
            <a:avLst/>
          </a:prstGeom>
          <a:ln w="4445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箭头: 右 14">
            <a:extLst>
              <a:ext uri="{FF2B5EF4-FFF2-40B4-BE49-F238E27FC236}">
                <a16:creationId xmlns:a16="http://schemas.microsoft.com/office/drawing/2014/main" id="{A18E94CC-57FB-49BC-9458-99383B7BA4DF}"/>
              </a:ext>
            </a:extLst>
          </p:cNvPr>
          <p:cNvSpPr/>
          <p:nvPr/>
        </p:nvSpPr>
        <p:spPr>
          <a:xfrm>
            <a:off x="10705168" y="4048123"/>
            <a:ext cx="1457325" cy="2762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241EAFA-6371-4D72-BFE1-9BDA258DF9DB}"/>
              </a:ext>
            </a:extLst>
          </p:cNvPr>
          <p:cNvSpPr txBox="1"/>
          <p:nvPr/>
        </p:nvSpPr>
        <p:spPr>
          <a:xfrm>
            <a:off x="170120" y="378800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原始论文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92EB07-7322-4BAA-A956-B5A6AE8271A9}"/>
              </a:ext>
            </a:extLst>
          </p:cNvPr>
          <p:cNvSpPr txBox="1"/>
          <p:nvPr/>
        </p:nvSpPr>
        <p:spPr>
          <a:xfrm>
            <a:off x="3180119" y="384515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论文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5886693-F8C4-40B2-85AF-1E53F4C4B9BC}"/>
              </a:ext>
            </a:extLst>
          </p:cNvPr>
          <p:cNvSpPr txBox="1"/>
          <p:nvPr/>
        </p:nvSpPr>
        <p:spPr>
          <a:xfrm>
            <a:off x="5696815" y="381690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问题集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F4FC785-F795-4BBC-8CAD-B82A4B641237}"/>
              </a:ext>
            </a:extLst>
          </p:cNvPr>
          <p:cNvSpPr txBox="1"/>
          <p:nvPr/>
        </p:nvSpPr>
        <p:spPr>
          <a:xfrm>
            <a:off x="11110664" y="378538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结果</a:t>
            </a: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F423A402-4C37-4B37-971E-142F3B017C01}"/>
              </a:ext>
            </a:extLst>
          </p:cNvPr>
          <p:cNvSpPr/>
          <p:nvPr/>
        </p:nvSpPr>
        <p:spPr>
          <a:xfrm rot="5400000">
            <a:off x="1476113" y="2930752"/>
            <a:ext cx="1457325" cy="2762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CAFE63-32EF-4397-ADD5-2EC62160118D}"/>
              </a:ext>
            </a:extLst>
          </p:cNvPr>
          <p:cNvSpPr txBox="1"/>
          <p:nvPr/>
        </p:nvSpPr>
        <p:spPr>
          <a:xfrm rot="5400000">
            <a:off x="2097232" y="27686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规则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FEC55C-D5DF-46E5-8E02-5EDE0C90A898}"/>
              </a:ext>
            </a:extLst>
          </p:cNvPr>
          <p:cNvSpPr/>
          <p:nvPr/>
        </p:nvSpPr>
        <p:spPr>
          <a:xfrm>
            <a:off x="9442172" y="3809999"/>
            <a:ext cx="1381125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审查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2191053F-E549-43F1-B9EA-0E4BA4BDB063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8171517" y="4186237"/>
            <a:ext cx="1270655" cy="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E8FF523A-085E-411F-ABF4-E0CC94388414}"/>
              </a:ext>
            </a:extLst>
          </p:cNvPr>
          <p:cNvSpPr txBox="1"/>
          <p:nvPr/>
        </p:nvSpPr>
        <p:spPr>
          <a:xfrm>
            <a:off x="8348595" y="381690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报告</a:t>
            </a: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424FCA93-5181-47AF-BD96-7F80D6C9AA10}"/>
              </a:ext>
            </a:extLst>
          </p:cNvPr>
          <p:cNvSpPr/>
          <p:nvPr/>
        </p:nvSpPr>
        <p:spPr>
          <a:xfrm rot="16200000">
            <a:off x="9405606" y="2853417"/>
            <a:ext cx="1457325" cy="27622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DDEAE95-1A52-4ADD-959C-1067F1946F62}"/>
              </a:ext>
            </a:extLst>
          </p:cNvPr>
          <p:cNvSpPr txBox="1"/>
          <p:nvPr/>
        </p:nvSpPr>
        <p:spPr>
          <a:xfrm>
            <a:off x="10233501" y="2863335"/>
            <a:ext cx="377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错误</a:t>
            </a:r>
          </a:p>
        </p:txBody>
      </p:sp>
    </p:spTree>
    <p:extLst>
      <p:ext uri="{BB962C8B-B14F-4D97-AF65-F5344CB8AC3E}">
        <p14:creationId xmlns:p14="http://schemas.microsoft.com/office/powerpoint/2010/main" val="42134944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6968CFE-E808-4C90-A505-E79E48AA1EC6}"/>
              </a:ext>
            </a:extLst>
          </p:cNvPr>
          <p:cNvGrpSpPr/>
          <p:nvPr/>
        </p:nvGrpSpPr>
        <p:grpSpPr>
          <a:xfrm>
            <a:off x="295274" y="309562"/>
            <a:ext cx="11601451" cy="6238875"/>
            <a:chOff x="2362200" y="2447925"/>
            <a:chExt cx="1762125" cy="1123950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74AAC33E-1FA8-411A-9F25-9A7EA5A19195}"/>
                </a:ext>
              </a:extLst>
            </p:cNvPr>
            <p:cNvSpPr/>
            <p:nvPr/>
          </p:nvSpPr>
          <p:spPr>
            <a:xfrm>
              <a:off x="2362200" y="2447925"/>
              <a:ext cx="1762125" cy="1123950"/>
            </a:xfrm>
            <a:prstGeom prst="roundRect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6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F5985A1A-D67F-4D66-967C-EAAF35FF013E}"/>
                </a:ext>
              </a:extLst>
            </p:cNvPr>
            <p:cNvCxnSpPr/>
            <p:nvPr/>
          </p:nvCxnSpPr>
          <p:spPr>
            <a:xfrm>
              <a:off x="2362200" y="2762250"/>
              <a:ext cx="1762125" cy="0"/>
            </a:xfrm>
            <a:prstGeom prst="line">
              <a:avLst/>
            </a:prstGeom>
            <a:ln w="38100"/>
            <a:effectLst>
              <a:outerShdw blurRad="50800" dist="50800" dir="5400000" sx="1000" sy="1000" algn="ctr" rotWithShape="0">
                <a:srgbClr val="000000">
                  <a:alpha val="43137"/>
                </a:srgb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4DD7875-27E3-4D32-ADFB-96A2EF229338}"/>
                </a:ext>
              </a:extLst>
            </p:cNvPr>
            <p:cNvSpPr txBox="1"/>
            <p:nvPr/>
          </p:nvSpPr>
          <p:spPr>
            <a:xfrm>
              <a:off x="3116624" y="2475618"/>
              <a:ext cx="266170" cy="282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600" dirty="0"/>
                <a:t>3.0</a:t>
              </a:r>
              <a:endParaRPr lang="zh-CN" altLang="en-US" sz="96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12FCD71A-C35C-481D-B205-0EA172E27D95}"/>
              </a:ext>
            </a:extLst>
          </p:cNvPr>
          <p:cNvSpPr txBox="1"/>
          <p:nvPr/>
        </p:nvSpPr>
        <p:spPr>
          <a:xfrm>
            <a:off x="3583896" y="3428999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>
                <a:solidFill>
                  <a:schemeClr val="tx1"/>
                </a:solidFill>
              </a:rPr>
              <a:t>存储管理</a:t>
            </a:r>
            <a:endParaRPr lang="en-US" altLang="zh-CN" sz="9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26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327EED4-B8AC-4250-A78B-9FA27D0DFEF8}"/>
              </a:ext>
            </a:extLst>
          </p:cNvPr>
          <p:cNvSpPr txBox="1"/>
          <p:nvPr/>
        </p:nvSpPr>
        <p:spPr>
          <a:xfrm>
            <a:off x="5182929" y="11430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</a:rPr>
              <a:t>存储管理</a:t>
            </a:r>
            <a:endParaRPr lang="en-US" altLang="zh-CN" sz="3200" dirty="0">
              <a:solidFill>
                <a:schemeClr val="tx1"/>
              </a:solidFill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3E76680C-9AAE-4E53-BB58-B42EA7BC8EF6}"/>
              </a:ext>
            </a:extLst>
          </p:cNvPr>
          <p:cNvSpPr/>
          <p:nvPr/>
        </p:nvSpPr>
        <p:spPr>
          <a:xfrm>
            <a:off x="0" y="4048126"/>
            <a:ext cx="1356379" cy="2762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3AF17E-2885-43D5-8C46-8C95206D02C7}"/>
              </a:ext>
            </a:extLst>
          </p:cNvPr>
          <p:cNvSpPr/>
          <p:nvPr/>
        </p:nvSpPr>
        <p:spPr>
          <a:xfrm>
            <a:off x="1486832" y="3810000"/>
            <a:ext cx="1381125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版本控制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762904-CFCF-4FF3-9270-B224FB86C4FB}"/>
              </a:ext>
            </a:extLst>
          </p:cNvPr>
          <p:cNvSpPr/>
          <p:nvPr/>
        </p:nvSpPr>
        <p:spPr>
          <a:xfrm>
            <a:off x="4138612" y="3809999"/>
            <a:ext cx="1381125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分类存储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60BC1E-459E-4B48-A070-4F27DB86895E}"/>
              </a:ext>
            </a:extLst>
          </p:cNvPr>
          <p:cNvSpPr/>
          <p:nvPr/>
        </p:nvSpPr>
        <p:spPr>
          <a:xfrm>
            <a:off x="6790392" y="3809999"/>
            <a:ext cx="1381125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索引构建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2F5E0CF-D1B2-4C15-9BB9-B79047899F73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2867957" y="4186237"/>
            <a:ext cx="1270655" cy="1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1874E9A-A8DF-45E6-B2B1-909868EA215D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519737" y="4186237"/>
            <a:ext cx="1270655" cy="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9EA892F2-1A42-49E5-96A3-9C521834BCC7}"/>
              </a:ext>
            </a:extLst>
          </p:cNvPr>
          <p:cNvSpPr/>
          <p:nvPr/>
        </p:nvSpPr>
        <p:spPr>
          <a:xfrm>
            <a:off x="4138612" y="2316389"/>
            <a:ext cx="1381126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数据库</a:t>
            </a:r>
            <a:endParaRPr lang="en-US" altLang="zh-CN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B09CE6D-D866-4934-840B-38F30CFB0699}"/>
              </a:ext>
            </a:extLst>
          </p:cNvPr>
          <p:cNvCxnSpPr>
            <a:cxnSpLocks/>
            <a:stCxn id="5" idx="0"/>
            <a:endCxn id="9" idx="2"/>
          </p:cNvCxnSpPr>
          <p:nvPr/>
        </p:nvCxnSpPr>
        <p:spPr>
          <a:xfrm flipV="1">
            <a:off x="4829175" y="3068864"/>
            <a:ext cx="0" cy="741135"/>
          </a:xfrm>
          <a:prstGeom prst="straightConnector1">
            <a:avLst/>
          </a:prstGeom>
          <a:ln w="4445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箭头: 右 10">
            <a:extLst>
              <a:ext uri="{FF2B5EF4-FFF2-40B4-BE49-F238E27FC236}">
                <a16:creationId xmlns:a16="http://schemas.microsoft.com/office/drawing/2014/main" id="{4572E552-95EE-4AEB-A030-CE6F983F4EED}"/>
              </a:ext>
            </a:extLst>
          </p:cNvPr>
          <p:cNvSpPr/>
          <p:nvPr/>
        </p:nvSpPr>
        <p:spPr>
          <a:xfrm>
            <a:off x="10953750" y="4048123"/>
            <a:ext cx="1208743" cy="2762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D91C7F-46E9-4D72-AC56-40A36A14674B}"/>
              </a:ext>
            </a:extLst>
          </p:cNvPr>
          <p:cNvSpPr txBox="1"/>
          <p:nvPr/>
        </p:nvSpPr>
        <p:spPr>
          <a:xfrm>
            <a:off x="170120" y="378800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原始论文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06C5FC6-8091-48B5-AB1E-D8E9DB6A5FA0}"/>
              </a:ext>
            </a:extLst>
          </p:cNvPr>
          <p:cNvSpPr txBox="1"/>
          <p:nvPr/>
        </p:nvSpPr>
        <p:spPr>
          <a:xfrm>
            <a:off x="3065383" y="3809999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论文</a:t>
            </a:r>
            <a:r>
              <a:rPr lang="en-US" altLang="zh-CN" dirty="0"/>
              <a:t>-v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7C33AFE-3A6C-4A45-A2A9-3E5A50A94D52}"/>
              </a:ext>
            </a:extLst>
          </p:cNvPr>
          <p:cNvSpPr txBox="1"/>
          <p:nvPr/>
        </p:nvSpPr>
        <p:spPr>
          <a:xfrm>
            <a:off x="11110664" y="378538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结果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2841C76-04C4-47C3-B612-A18C82F555F6}"/>
              </a:ext>
            </a:extLst>
          </p:cNvPr>
          <p:cNvSpPr/>
          <p:nvPr/>
        </p:nvSpPr>
        <p:spPr>
          <a:xfrm>
            <a:off x="9442172" y="3809999"/>
            <a:ext cx="1381125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归档记录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8C6D718-BD07-4C5B-AC5C-6D3D03732AA4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8171517" y="4186237"/>
            <a:ext cx="1270655" cy="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DA2D50C-CC15-4482-A357-B275DCC4396A}"/>
              </a:ext>
            </a:extLst>
          </p:cNvPr>
          <p:cNvCxnSpPr>
            <a:cxnSpLocks/>
            <a:stCxn id="5" idx="2"/>
            <a:endCxn id="27" idx="0"/>
          </p:cNvCxnSpPr>
          <p:nvPr/>
        </p:nvCxnSpPr>
        <p:spPr>
          <a:xfrm flipH="1">
            <a:off x="4829174" y="4562474"/>
            <a:ext cx="1" cy="606653"/>
          </a:xfrm>
          <a:prstGeom prst="straightConnector1">
            <a:avLst/>
          </a:prstGeom>
          <a:ln w="4445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8602E497-EDEB-4920-9BA6-665F76A878D1}"/>
              </a:ext>
            </a:extLst>
          </p:cNvPr>
          <p:cNvSpPr/>
          <p:nvPr/>
        </p:nvSpPr>
        <p:spPr>
          <a:xfrm>
            <a:off x="4138611" y="5169127"/>
            <a:ext cx="1381126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MinIO</a:t>
            </a:r>
            <a:endParaRPr lang="en-US" altLang="zh-CN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4F4F2D8-5C72-4369-ACC0-65F88FD4D47A}"/>
              </a:ext>
            </a:extLst>
          </p:cNvPr>
          <p:cNvSpPr/>
          <p:nvPr/>
        </p:nvSpPr>
        <p:spPr>
          <a:xfrm>
            <a:off x="6737537" y="2316389"/>
            <a:ext cx="1486833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Elasticsearch</a:t>
            </a:r>
            <a:endParaRPr lang="zh-CN" altLang="en-US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76495F0-D194-418C-B219-C5CA31229F11}"/>
              </a:ext>
            </a:extLst>
          </p:cNvPr>
          <p:cNvCxnSpPr>
            <a:cxnSpLocks/>
          </p:cNvCxnSpPr>
          <p:nvPr/>
        </p:nvCxnSpPr>
        <p:spPr>
          <a:xfrm flipV="1">
            <a:off x="7480953" y="3068864"/>
            <a:ext cx="0" cy="741135"/>
          </a:xfrm>
          <a:prstGeom prst="straightConnector1">
            <a:avLst/>
          </a:prstGeom>
          <a:ln w="4445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7365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6968CFE-E808-4C90-A505-E79E48AA1EC6}"/>
              </a:ext>
            </a:extLst>
          </p:cNvPr>
          <p:cNvGrpSpPr/>
          <p:nvPr/>
        </p:nvGrpSpPr>
        <p:grpSpPr>
          <a:xfrm>
            <a:off x="295274" y="309562"/>
            <a:ext cx="11601451" cy="6238875"/>
            <a:chOff x="2362200" y="2447925"/>
            <a:chExt cx="1762125" cy="1123950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74AAC33E-1FA8-411A-9F25-9A7EA5A19195}"/>
                </a:ext>
              </a:extLst>
            </p:cNvPr>
            <p:cNvSpPr/>
            <p:nvPr/>
          </p:nvSpPr>
          <p:spPr>
            <a:xfrm>
              <a:off x="2362200" y="2447925"/>
              <a:ext cx="1762125" cy="1123950"/>
            </a:xfrm>
            <a:prstGeom prst="roundRect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6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F5985A1A-D67F-4D66-967C-EAAF35FF013E}"/>
                </a:ext>
              </a:extLst>
            </p:cNvPr>
            <p:cNvCxnSpPr/>
            <p:nvPr/>
          </p:nvCxnSpPr>
          <p:spPr>
            <a:xfrm>
              <a:off x="2362200" y="2762250"/>
              <a:ext cx="1762125" cy="0"/>
            </a:xfrm>
            <a:prstGeom prst="line">
              <a:avLst/>
            </a:prstGeom>
            <a:ln w="38100"/>
            <a:effectLst>
              <a:outerShdw blurRad="50800" dist="50800" dir="5400000" sx="1000" sy="1000" algn="ctr" rotWithShape="0">
                <a:srgbClr val="000000">
                  <a:alpha val="43137"/>
                </a:srgb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4DD7875-27E3-4D32-ADFB-96A2EF229338}"/>
                </a:ext>
              </a:extLst>
            </p:cNvPr>
            <p:cNvSpPr txBox="1"/>
            <p:nvPr/>
          </p:nvSpPr>
          <p:spPr>
            <a:xfrm>
              <a:off x="3116624" y="2475618"/>
              <a:ext cx="266170" cy="282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600" dirty="0"/>
                <a:t>4.0</a:t>
              </a:r>
              <a:endParaRPr lang="zh-CN" altLang="en-US" sz="96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27D13EBA-2CB5-4D57-B0FF-0C850B64234B}"/>
              </a:ext>
            </a:extLst>
          </p:cNvPr>
          <p:cNvSpPr txBox="1"/>
          <p:nvPr/>
        </p:nvSpPr>
        <p:spPr>
          <a:xfrm>
            <a:off x="3583896" y="349516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600" dirty="0">
                <a:solidFill>
                  <a:schemeClr val="tx1"/>
                </a:solidFill>
              </a:rPr>
              <a:t>查询服务</a:t>
            </a:r>
            <a:endParaRPr lang="en-US" altLang="zh-CN" sz="9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53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DDBFAD-6DE3-4A85-ADD3-BCA701EB19AA}"/>
              </a:ext>
            </a:extLst>
          </p:cNvPr>
          <p:cNvSpPr txBox="1"/>
          <p:nvPr/>
        </p:nvSpPr>
        <p:spPr>
          <a:xfrm>
            <a:off x="5182929" y="13335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</a:rPr>
              <a:t>查询服务</a:t>
            </a:r>
            <a:endParaRPr lang="en-US" altLang="zh-CN" sz="3200" dirty="0">
              <a:solidFill>
                <a:schemeClr val="tx1"/>
              </a:solidFill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EE37AF6C-2294-435C-A842-D63C9CB5F50C}"/>
              </a:ext>
            </a:extLst>
          </p:cNvPr>
          <p:cNvSpPr/>
          <p:nvPr/>
        </p:nvSpPr>
        <p:spPr>
          <a:xfrm>
            <a:off x="1489333" y="4201089"/>
            <a:ext cx="1356379" cy="2762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70FA9A-1299-4A2E-AF8B-815596A0D0B5}"/>
              </a:ext>
            </a:extLst>
          </p:cNvPr>
          <p:cNvSpPr/>
          <p:nvPr/>
        </p:nvSpPr>
        <p:spPr>
          <a:xfrm>
            <a:off x="2976165" y="3962963"/>
            <a:ext cx="1381125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内容检查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F27090-74FC-4146-8DD5-D7FC989A0D73}"/>
              </a:ext>
            </a:extLst>
          </p:cNvPr>
          <p:cNvSpPr/>
          <p:nvPr/>
        </p:nvSpPr>
        <p:spPr>
          <a:xfrm>
            <a:off x="5627945" y="3962962"/>
            <a:ext cx="1381125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结果渲染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3DA67D-DB3B-4422-B2F6-F4DD981D0CC7}"/>
              </a:ext>
            </a:extLst>
          </p:cNvPr>
          <p:cNvSpPr/>
          <p:nvPr/>
        </p:nvSpPr>
        <p:spPr>
          <a:xfrm>
            <a:off x="8279725" y="3962962"/>
            <a:ext cx="1381125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预览</a:t>
            </a:r>
            <a:r>
              <a:rPr lang="en-US" altLang="zh-CN" dirty="0"/>
              <a:t>/</a:t>
            </a:r>
            <a:r>
              <a:rPr lang="zh-CN" altLang="en-US" dirty="0"/>
              <a:t>下载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571F7B3-819B-4F0B-8357-BF067054674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357290" y="4339200"/>
            <a:ext cx="1270655" cy="1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DE4E530-2B6B-40BD-98E7-D5CD3CABB4E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009070" y="4339200"/>
            <a:ext cx="1270655" cy="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1CCEBF3-8A82-4BA3-9ED7-938286731899}"/>
              </a:ext>
            </a:extLst>
          </p:cNvPr>
          <p:cNvSpPr/>
          <p:nvPr/>
        </p:nvSpPr>
        <p:spPr>
          <a:xfrm>
            <a:off x="2976164" y="2093114"/>
            <a:ext cx="1381126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权限验证</a:t>
            </a:r>
            <a:endParaRPr lang="en-US" altLang="zh-CN" dirty="0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4CA60583-B947-49D6-8B1B-0F505A76E2E1}"/>
              </a:ext>
            </a:extLst>
          </p:cNvPr>
          <p:cNvSpPr/>
          <p:nvPr/>
        </p:nvSpPr>
        <p:spPr>
          <a:xfrm>
            <a:off x="9722762" y="4201089"/>
            <a:ext cx="1208743" cy="2762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387AEFB-EEBF-487C-B799-507F27B8C1A5}"/>
              </a:ext>
            </a:extLst>
          </p:cNvPr>
          <p:cNvSpPr txBox="1"/>
          <p:nvPr/>
        </p:nvSpPr>
        <p:spPr>
          <a:xfrm>
            <a:off x="1659453" y="39409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原始论文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974DC39-58A9-40E9-BEA6-502C3A55EA6E}"/>
              </a:ext>
            </a:extLst>
          </p:cNvPr>
          <p:cNvSpPr txBox="1"/>
          <p:nvPr/>
        </p:nvSpPr>
        <p:spPr>
          <a:xfrm>
            <a:off x="4420185" y="3962962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查询结果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AAB04B7-41CE-45D6-B6DB-DE1FE69CD9A7}"/>
              </a:ext>
            </a:extLst>
          </p:cNvPr>
          <p:cNvSpPr txBox="1"/>
          <p:nvPr/>
        </p:nvSpPr>
        <p:spPr>
          <a:xfrm>
            <a:off x="9879676" y="39383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结果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F5AC28C-0062-4B66-825B-C44F9E750FF9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3666727" y="4783285"/>
            <a:ext cx="1" cy="606653"/>
          </a:xfrm>
          <a:prstGeom prst="straightConnector1">
            <a:avLst/>
          </a:prstGeom>
          <a:ln w="4445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3693BDE8-EF22-4B73-B901-AFE88D8A2225}"/>
              </a:ext>
            </a:extLst>
          </p:cNvPr>
          <p:cNvSpPr/>
          <p:nvPr/>
        </p:nvSpPr>
        <p:spPr>
          <a:xfrm>
            <a:off x="2976164" y="5389938"/>
            <a:ext cx="1381126" cy="752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Redis</a:t>
            </a:r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8DFB40F5-2AD9-453B-BCBF-376C3CFD63CD}"/>
              </a:ext>
            </a:extLst>
          </p:cNvPr>
          <p:cNvSpPr/>
          <p:nvPr/>
        </p:nvSpPr>
        <p:spPr>
          <a:xfrm rot="5400000">
            <a:off x="2976164" y="1258202"/>
            <a:ext cx="1356379" cy="2762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6D8559F-5B1E-44C9-8E67-0978B4EFBBFE}"/>
              </a:ext>
            </a:extLst>
          </p:cNvPr>
          <p:cNvCxnSpPr>
            <a:cxnSpLocks/>
            <a:stCxn id="10" idx="2"/>
            <a:endCxn id="5" idx="0"/>
          </p:cNvCxnSpPr>
          <p:nvPr/>
        </p:nvCxnSpPr>
        <p:spPr>
          <a:xfrm>
            <a:off x="3666727" y="2845589"/>
            <a:ext cx="1" cy="1117374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14969F1-660E-4E00-A8C1-B9154A170126}"/>
              </a:ext>
            </a:extLst>
          </p:cNvPr>
          <p:cNvSpPr txBox="1"/>
          <p:nvPr/>
        </p:nvSpPr>
        <p:spPr>
          <a:xfrm>
            <a:off x="3687959" y="121164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用户查询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D87D79F-E002-4186-BBED-A488646F7543}"/>
              </a:ext>
            </a:extLst>
          </p:cNvPr>
          <p:cNvSpPr txBox="1"/>
          <p:nvPr/>
        </p:nvSpPr>
        <p:spPr>
          <a:xfrm>
            <a:off x="3677699" y="3152367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83447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08FFECB-195D-4A84-A90F-8A2EECA78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2376"/>
            <a:ext cx="10896206" cy="563270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A68A63B-07A0-4C86-A765-71E682C44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1061" y="4416552"/>
            <a:ext cx="3484480" cy="171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317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178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492</Words>
  <Application>Microsoft Office PowerPoint</Application>
  <PresentationFormat>宽屏</PresentationFormat>
  <Paragraphs>106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Akzidenz-Grotesk Bold</vt:lpstr>
      <vt:lpstr>等线</vt:lpstr>
      <vt:lpstr>等线 Light</vt:lpstr>
      <vt:lpstr>思源黑体</vt:lpstr>
      <vt:lpstr>思源黑体 Bold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GG 丘</dc:creator>
  <cp:lastModifiedBy>GG 丘</cp:lastModifiedBy>
  <cp:revision>26</cp:revision>
  <dcterms:created xsi:type="dcterms:W3CDTF">2025-05-18T06:08:37Z</dcterms:created>
  <dcterms:modified xsi:type="dcterms:W3CDTF">2025-05-18T16:29:00Z</dcterms:modified>
</cp:coreProperties>
</file>